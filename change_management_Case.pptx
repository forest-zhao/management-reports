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B641D22A-6812-496B-9EF9-B6DF2DE4AA8D}">
  <a:tblStyle styleId="{B641D22A-6812-496B-9EF9-B6DF2DE4AA8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 name="Shape 50"/>
        <p:cNvGrpSpPr/>
        <p:nvPr/>
      </p:nvGrpSpPr>
      <p:grpSpPr>
        <a:xfrm>
          <a:off x="0" y="0"/>
          <a:ext cx="0" cy="0"/>
          <a:chOff x="0" y="0"/>
          <a:chExt cx="0" cy="0"/>
        </a:xfrm>
      </p:grpSpPr>
      <p:sp>
        <p:nvSpPr>
          <p:cNvPr id="51" name="Google Shape;51;g3e31f074e6_5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e31f074e6_5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7" name="Shape 57"/>
        <p:cNvGrpSpPr/>
        <p:nvPr/>
      </p:nvGrpSpPr>
      <p:grpSpPr>
        <a:xfrm>
          <a:off x="0" y="0"/>
          <a:ext cx="0" cy="0"/>
          <a:chOff x="0" y="0"/>
          <a:chExt cx="0" cy="0"/>
        </a:xfrm>
      </p:grpSpPr>
      <p:sp>
        <p:nvSpPr>
          <p:cNvPr id="58" name="Google Shape;58;g3e31f074e6_5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e31f074e6_5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4" name="Shape 64"/>
        <p:cNvGrpSpPr/>
        <p:nvPr/>
      </p:nvGrpSpPr>
      <p:grpSpPr>
        <a:xfrm>
          <a:off x="0" y="0"/>
          <a:ext cx="0" cy="0"/>
          <a:chOff x="0" y="0"/>
          <a:chExt cx="0" cy="0"/>
        </a:xfrm>
      </p:grpSpPr>
      <p:sp>
        <p:nvSpPr>
          <p:cNvPr id="65" name="Google Shape;65;g3e23b8c97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e23b8c97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9" name="Shape 89"/>
        <p:cNvGrpSpPr/>
        <p:nvPr/>
      </p:nvGrpSpPr>
      <p:grpSpPr>
        <a:xfrm>
          <a:off x="0" y="0"/>
          <a:ext cx="0" cy="0"/>
          <a:chOff x="0" y="0"/>
          <a:chExt cx="0" cy="0"/>
        </a:xfrm>
      </p:grpSpPr>
      <p:sp>
        <p:nvSpPr>
          <p:cNvPr id="90" name="Google Shape;90;g3e29278f5a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e29278f5a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5" name="Shape 95"/>
        <p:cNvGrpSpPr/>
        <p:nvPr/>
      </p:nvGrpSpPr>
      <p:grpSpPr>
        <a:xfrm>
          <a:off x="0" y="0"/>
          <a:ext cx="0" cy="0"/>
          <a:chOff x="0" y="0"/>
          <a:chExt cx="0" cy="0"/>
        </a:xfrm>
      </p:grpSpPr>
      <p:sp>
        <p:nvSpPr>
          <p:cNvPr id="96" name="Google Shape;96;g3e2fee2b5f_1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e2fee2b5f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0" name="Shape 100"/>
        <p:cNvGrpSpPr/>
        <p:nvPr/>
      </p:nvGrpSpPr>
      <p:grpSpPr>
        <a:xfrm>
          <a:off x="0" y="0"/>
          <a:ext cx="0" cy="0"/>
          <a:chOff x="0" y="0"/>
          <a:chExt cx="0" cy="0"/>
        </a:xfrm>
      </p:grpSpPr>
      <p:sp>
        <p:nvSpPr>
          <p:cNvPr id="101" name="Google Shape;101;g3e31f074e6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e31f074e6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3" name="Shape 113"/>
        <p:cNvGrpSpPr/>
        <p:nvPr/>
      </p:nvGrpSpPr>
      <p:grpSpPr>
        <a:xfrm>
          <a:off x="0" y="0"/>
          <a:ext cx="0" cy="0"/>
          <a:chOff x="0" y="0"/>
          <a:chExt cx="0" cy="0"/>
        </a:xfrm>
      </p:grpSpPr>
      <p:sp>
        <p:nvSpPr>
          <p:cNvPr id="114" name="Google Shape;114;g3e31f296d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e31f296d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1" name="Shape 131"/>
        <p:cNvGrpSpPr/>
        <p:nvPr/>
      </p:nvGrpSpPr>
      <p:grpSpPr>
        <a:xfrm>
          <a:off x="0" y="0"/>
          <a:ext cx="0" cy="0"/>
          <a:chOff x="0" y="0"/>
          <a:chExt cx="0" cy="0"/>
        </a:xfrm>
      </p:grpSpPr>
      <p:sp>
        <p:nvSpPr>
          <p:cNvPr id="132" name="Google Shape;132;g3e31f074e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e31f074e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7" name="Shape 137"/>
        <p:cNvGrpSpPr/>
        <p:nvPr/>
      </p:nvGrpSpPr>
      <p:grpSpPr>
        <a:xfrm>
          <a:off x="0" y="0"/>
          <a:ext cx="0" cy="0"/>
          <a:chOff x="0" y="0"/>
          <a:chExt cx="0" cy="0"/>
        </a:xfrm>
      </p:grpSpPr>
      <p:sp>
        <p:nvSpPr>
          <p:cNvPr id="138" name="Google Shape;138;g3e31f074e6_5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e31f074e6_5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4" name="Shape 144"/>
        <p:cNvGrpSpPr/>
        <p:nvPr/>
      </p:nvGrpSpPr>
      <p:grpSpPr>
        <a:xfrm>
          <a:off x="0" y="0"/>
          <a:ext cx="0" cy="0"/>
          <a:chOff x="0" y="0"/>
          <a:chExt cx="0" cy="0"/>
        </a:xfrm>
      </p:grpSpPr>
      <p:sp>
        <p:nvSpPr>
          <p:cNvPr id="145" name="Google Shape;145;g3e31f074e6_5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e31f074e6_5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1" name="Shape 151"/>
        <p:cNvGrpSpPr/>
        <p:nvPr/>
      </p:nvGrpSpPr>
      <p:grpSpPr>
        <a:xfrm>
          <a:off x="0" y="0"/>
          <a:ext cx="0" cy="0"/>
          <a:chOff x="0" y="0"/>
          <a:chExt cx="0" cy="0"/>
        </a:xfrm>
      </p:grpSpPr>
      <p:sp>
        <p:nvSpPr>
          <p:cNvPr id="152" name="Google Shape;152;g3e31f074e6_5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e31f074e6_5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6" name="Shape 166"/>
        <p:cNvGrpSpPr/>
        <p:nvPr/>
      </p:nvGrpSpPr>
      <p:grpSpPr>
        <a:xfrm>
          <a:off x="0" y="0"/>
          <a:ext cx="0" cy="0"/>
          <a:chOff x="0" y="0"/>
          <a:chExt cx="0" cy="0"/>
        </a:xfrm>
      </p:grpSpPr>
      <p:sp>
        <p:nvSpPr>
          <p:cNvPr id="167" name="Google Shape;167;g3e31f074e6_5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e31f074e6_5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1" name="Shape 181"/>
        <p:cNvGrpSpPr/>
        <p:nvPr/>
      </p:nvGrpSpPr>
      <p:grpSpPr>
        <a:xfrm>
          <a:off x="0" y="0"/>
          <a:ext cx="0" cy="0"/>
          <a:chOff x="0" y="0"/>
          <a:chExt cx="0" cy="0"/>
        </a:xfrm>
      </p:grpSpPr>
      <p:sp>
        <p:nvSpPr>
          <p:cNvPr id="182" name="Google Shape;182;g3e2fee2b5f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e2fee2b5f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6" name="Shape 186"/>
        <p:cNvGrpSpPr/>
        <p:nvPr/>
      </p:nvGrpSpPr>
      <p:grpSpPr>
        <a:xfrm>
          <a:off x="0" y="0"/>
          <a:ext cx="0" cy="0"/>
          <a:chOff x="0" y="0"/>
          <a:chExt cx="0" cy="0"/>
        </a:xfrm>
      </p:grpSpPr>
      <p:sp>
        <p:nvSpPr>
          <p:cNvPr id="187" name="Google Shape;187;g3e23b8c97b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e23b8c97b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1" name="Shape 201"/>
        <p:cNvGrpSpPr/>
        <p:nvPr/>
      </p:nvGrpSpPr>
      <p:grpSpPr>
        <a:xfrm>
          <a:off x="0" y="0"/>
          <a:ext cx="0" cy="0"/>
          <a:chOff x="0" y="0"/>
          <a:chExt cx="0" cy="0"/>
        </a:xfrm>
      </p:grpSpPr>
      <p:sp>
        <p:nvSpPr>
          <p:cNvPr id="202" name="Google Shape;202;g3e31f074e6_5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e31f074e6_5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2" name="Shape 212"/>
        <p:cNvGrpSpPr/>
        <p:nvPr/>
      </p:nvGrpSpPr>
      <p:grpSpPr>
        <a:xfrm>
          <a:off x="0" y="0"/>
          <a:ext cx="0" cy="0"/>
          <a:chOff x="0" y="0"/>
          <a:chExt cx="0" cy="0"/>
        </a:xfrm>
      </p:grpSpPr>
      <p:sp>
        <p:nvSpPr>
          <p:cNvPr id="213" name="Google Shape;213;g3e23b8c97b_2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e23b8c97b_2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8" name="Shape 238"/>
        <p:cNvGrpSpPr/>
        <p:nvPr/>
      </p:nvGrpSpPr>
      <p:grpSpPr>
        <a:xfrm>
          <a:off x="0" y="0"/>
          <a:ext cx="0" cy="0"/>
          <a:chOff x="0" y="0"/>
          <a:chExt cx="0" cy="0"/>
        </a:xfrm>
      </p:grpSpPr>
      <p:sp>
        <p:nvSpPr>
          <p:cNvPr id="239" name="Google Shape;239;g3e23b8c97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e23b8c97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5" name="Shape 245"/>
        <p:cNvGrpSpPr/>
        <p:nvPr/>
      </p:nvGrpSpPr>
      <p:grpSpPr>
        <a:xfrm>
          <a:off x="0" y="0"/>
          <a:ext cx="0" cy="0"/>
          <a:chOff x="0" y="0"/>
          <a:chExt cx="0" cy="0"/>
        </a:xfrm>
      </p:grpSpPr>
      <p:sp>
        <p:nvSpPr>
          <p:cNvPr id="246" name="Google Shape;246;g3e23b8c97b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e23b8c97b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3" name="Shape 263"/>
        <p:cNvGrpSpPr/>
        <p:nvPr/>
      </p:nvGrpSpPr>
      <p:grpSpPr>
        <a:xfrm>
          <a:off x="0" y="0"/>
          <a:ext cx="0" cy="0"/>
          <a:chOff x="0" y="0"/>
          <a:chExt cx="0" cy="0"/>
        </a:xfrm>
      </p:grpSpPr>
      <p:sp>
        <p:nvSpPr>
          <p:cNvPr id="264" name="Google Shape;264;g3e23b8c97b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e23b8c97b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2"/>
              </a:buClr>
              <a:buSzPts val="1400"/>
              <a:buFont typeface="Calibri"/>
              <a:buChar char="❖"/>
            </a:pPr>
            <a:r>
              <a:rPr lang="en-GB" sz="1400">
                <a:solidFill>
                  <a:schemeClr val="dk2"/>
                </a:solidFill>
                <a:latin typeface="Calibri"/>
                <a:ea typeface="Calibri"/>
                <a:cs typeface="Calibri"/>
                <a:sym typeface="Calibri"/>
              </a:rPr>
              <a:t>Look at the stats</a:t>
            </a:r>
            <a:endParaRPr sz="1400">
              <a:solidFill>
                <a:schemeClr val="dk2"/>
              </a:solidFill>
              <a:latin typeface="Calibri"/>
              <a:ea typeface="Calibri"/>
              <a:cs typeface="Calibri"/>
              <a:sym typeface="Calibri"/>
            </a:endParaRPr>
          </a:p>
          <a:p>
            <a:pPr indent="-317500" lvl="0" marL="457200" rtl="0" algn="l">
              <a:lnSpc>
                <a:spcPct val="115000"/>
              </a:lnSpc>
              <a:spcBef>
                <a:spcPts val="0"/>
              </a:spcBef>
              <a:spcAft>
                <a:spcPts val="0"/>
              </a:spcAft>
              <a:buClr>
                <a:schemeClr val="dk2"/>
              </a:buClr>
              <a:buSzPts val="1400"/>
              <a:buFont typeface="Calibri"/>
              <a:buChar char="❖"/>
            </a:pPr>
            <a:r>
              <a:rPr lang="en-GB" sz="1400">
                <a:solidFill>
                  <a:schemeClr val="dk2"/>
                </a:solidFill>
                <a:latin typeface="Calibri"/>
                <a:ea typeface="Calibri"/>
                <a:cs typeface="Calibri"/>
                <a:sym typeface="Calibri"/>
              </a:rPr>
              <a:t>Check what is it really being used for</a:t>
            </a:r>
            <a:endParaRPr sz="1400">
              <a:solidFill>
                <a:schemeClr val="dk2"/>
              </a:solidFill>
              <a:latin typeface="Calibri"/>
              <a:ea typeface="Calibri"/>
              <a:cs typeface="Calibri"/>
              <a:sym typeface="Calibri"/>
            </a:endParaRPr>
          </a:p>
          <a:p>
            <a:pPr indent="-317500" lvl="0" marL="457200" rtl="0" algn="l">
              <a:lnSpc>
                <a:spcPct val="115000"/>
              </a:lnSpc>
              <a:spcBef>
                <a:spcPts val="0"/>
              </a:spcBef>
              <a:spcAft>
                <a:spcPts val="0"/>
              </a:spcAft>
              <a:buClr>
                <a:schemeClr val="dk2"/>
              </a:buClr>
              <a:buSzPts val="1400"/>
              <a:buFont typeface="Calibri"/>
              <a:buChar char="❖"/>
            </a:pPr>
            <a:r>
              <a:rPr lang="en-GB" sz="1400">
                <a:solidFill>
                  <a:schemeClr val="dk2"/>
                </a:solidFill>
                <a:latin typeface="Calibri"/>
                <a:ea typeface="Calibri"/>
                <a:cs typeface="Calibri"/>
                <a:sym typeface="Calibri"/>
              </a:rPr>
              <a:t>Is there friction?</a:t>
            </a:r>
            <a:endParaRPr sz="1400">
              <a:solidFill>
                <a:schemeClr val="dk2"/>
              </a:solidFill>
              <a:latin typeface="Calibri"/>
              <a:ea typeface="Calibri"/>
              <a:cs typeface="Calibri"/>
              <a:sym typeface="Calibri"/>
            </a:endParaRPr>
          </a:p>
          <a:p>
            <a:pPr indent="-317500" lvl="0" marL="457200" rtl="0" algn="l">
              <a:lnSpc>
                <a:spcPct val="115000"/>
              </a:lnSpc>
              <a:spcBef>
                <a:spcPts val="0"/>
              </a:spcBef>
              <a:spcAft>
                <a:spcPts val="0"/>
              </a:spcAft>
              <a:buClr>
                <a:schemeClr val="dk2"/>
              </a:buClr>
              <a:buSzPts val="1400"/>
              <a:buFont typeface="Calibri"/>
              <a:buChar char="❖"/>
            </a:pPr>
            <a:r>
              <a:rPr lang="en-GB" sz="1400">
                <a:solidFill>
                  <a:schemeClr val="dk2"/>
                </a:solidFill>
                <a:latin typeface="Calibri"/>
                <a:ea typeface="Calibri"/>
                <a:cs typeface="Calibri"/>
                <a:sym typeface="Calibri"/>
              </a:rPr>
              <a:t>How well is it being used?</a:t>
            </a:r>
            <a:endParaRPr sz="1400">
              <a:solidFill>
                <a:schemeClr val="dk2"/>
              </a:solidFill>
              <a:latin typeface="Calibri"/>
              <a:ea typeface="Calibri"/>
              <a:cs typeface="Calibri"/>
              <a:sym typeface="Calibri"/>
            </a:endParaRPr>
          </a:p>
          <a:p>
            <a:pPr indent="-317500" lvl="0" marL="457200" rtl="0" algn="l">
              <a:lnSpc>
                <a:spcPct val="115000"/>
              </a:lnSpc>
              <a:spcBef>
                <a:spcPts val="0"/>
              </a:spcBef>
              <a:spcAft>
                <a:spcPts val="0"/>
              </a:spcAft>
              <a:buClr>
                <a:schemeClr val="dk2"/>
              </a:buClr>
              <a:buSzPts val="1400"/>
              <a:buFont typeface="Calibri"/>
              <a:buChar char="❖"/>
            </a:pPr>
            <a:r>
              <a:rPr lang="en-GB" sz="1400">
                <a:solidFill>
                  <a:schemeClr val="dk2"/>
                </a:solidFill>
                <a:latin typeface="Calibri"/>
                <a:ea typeface="Calibri"/>
                <a:cs typeface="Calibri"/>
                <a:sym typeface="Calibri"/>
              </a:rPr>
              <a:t>Data quality</a:t>
            </a:r>
            <a:endParaRPr sz="1400">
              <a:solidFill>
                <a:schemeClr val="dk2"/>
              </a:solidFill>
              <a:latin typeface="Calibri"/>
              <a:ea typeface="Calibri"/>
              <a:cs typeface="Calibri"/>
              <a:sym typeface="Calibri"/>
            </a:endParaRPr>
          </a:p>
          <a:p>
            <a:pPr indent="-317500" lvl="0" marL="457200" rtl="0" algn="l">
              <a:lnSpc>
                <a:spcPct val="115000"/>
              </a:lnSpc>
              <a:spcBef>
                <a:spcPts val="0"/>
              </a:spcBef>
              <a:spcAft>
                <a:spcPts val="0"/>
              </a:spcAft>
              <a:buClr>
                <a:schemeClr val="dk2"/>
              </a:buClr>
              <a:buSzPts val="1400"/>
              <a:buFont typeface="Calibri"/>
              <a:buChar char="❖"/>
            </a:pPr>
            <a:r>
              <a:rPr lang="en-GB" sz="1400">
                <a:solidFill>
                  <a:schemeClr val="dk2"/>
                </a:solidFill>
                <a:latin typeface="Calibri"/>
                <a:ea typeface="Calibri"/>
                <a:cs typeface="Calibri"/>
                <a:sym typeface="Calibri"/>
              </a:rPr>
              <a:t>How is reporting performed?</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5" name="Shape 275"/>
        <p:cNvGrpSpPr/>
        <p:nvPr/>
      </p:nvGrpSpPr>
      <p:grpSpPr>
        <a:xfrm>
          <a:off x="0" y="0"/>
          <a:ext cx="0" cy="0"/>
          <a:chOff x="0" y="0"/>
          <a:chExt cx="0" cy="0"/>
        </a:xfrm>
      </p:grpSpPr>
      <p:sp>
        <p:nvSpPr>
          <p:cNvPr id="276" name="Google Shape;276;g3e23b8c97b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e23b8c97b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5" name="Shape 285"/>
        <p:cNvGrpSpPr/>
        <p:nvPr/>
      </p:nvGrpSpPr>
      <p:grpSpPr>
        <a:xfrm>
          <a:off x="0" y="0"/>
          <a:ext cx="0" cy="0"/>
          <a:chOff x="0" y="0"/>
          <a:chExt cx="0" cy="0"/>
        </a:xfrm>
      </p:grpSpPr>
      <p:sp>
        <p:nvSpPr>
          <p:cNvPr id="286" name="Google Shape;286;g3e31f074e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e31f074e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1" name="Shape 291"/>
        <p:cNvGrpSpPr/>
        <p:nvPr/>
      </p:nvGrpSpPr>
      <p:grpSpPr>
        <a:xfrm>
          <a:off x="0" y="0"/>
          <a:ext cx="0" cy="0"/>
          <a:chOff x="0" y="0"/>
          <a:chExt cx="0" cy="0"/>
        </a:xfrm>
      </p:grpSpPr>
      <p:sp>
        <p:nvSpPr>
          <p:cNvPr id="292" name="Google Shape;292;g3e31f074e6_5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e31f074e6_5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jpg"/><Relationship Id="rId6" Type="http://schemas.openxmlformats.org/officeDocument/2006/relationships/image" Target="../media/image9.png"/><Relationship Id="rId7" Type="http://schemas.openxmlformats.org/officeDocument/2006/relationships/image" Target="../media/image11.png"/><Relationship Id="rId8"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jpg"/><Relationship Id="rId6" Type="http://schemas.openxmlformats.org/officeDocument/2006/relationships/image" Target="../media/image9.png"/><Relationship Id="rId7"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jpg"/><Relationship Id="rId6" Type="http://schemas.openxmlformats.org/officeDocument/2006/relationships/image" Target="../media/image9.png"/><Relationship Id="rId7"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20.png"/><Relationship Id="rId5"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19.png"/><Relationship Id="rId5" Type="http://schemas.openxmlformats.org/officeDocument/2006/relationships/image" Target="../media/image16.png"/><Relationship Id="rId6" Type="http://schemas.openxmlformats.org/officeDocument/2006/relationships/image" Target="../media/image13.png"/><Relationship Id="rId7"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4.jpg"/><Relationship Id="rId4" Type="http://schemas.openxmlformats.org/officeDocument/2006/relationships/image" Target="../media/image17.png"/><Relationship Id="rId5" Type="http://schemas.openxmlformats.org/officeDocument/2006/relationships/image" Target="../media/image24.png"/><Relationship Id="rId6" Type="http://schemas.openxmlformats.org/officeDocument/2006/relationships/image" Target="../media/image2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671725" y="-141210"/>
            <a:ext cx="10671749" cy="5413675"/>
          </a:xfrm>
          <a:prstGeom prst="rect">
            <a:avLst/>
          </a:prstGeom>
          <a:noFill/>
          <a:ln>
            <a:noFill/>
          </a:ln>
        </p:spPr>
      </p:pic>
      <p:sp>
        <p:nvSpPr>
          <p:cNvPr id="55" name="Google Shape;55;p13"/>
          <p:cNvSpPr/>
          <p:nvPr/>
        </p:nvSpPr>
        <p:spPr>
          <a:xfrm>
            <a:off x="-214375" y="-80375"/>
            <a:ext cx="9619500" cy="5292000"/>
          </a:xfrm>
          <a:prstGeom prst="rect">
            <a:avLst/>
          </a:prstGeom>
          <a:solidFill>
            <a:srgbClr val="000000">
              <a:alpha val="546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txBox="1"/>
          <p:nvPr/>
        </p:nvSpPr>
        <p:spPr>
          <a:xfrm>
            <a:off x="2739725" y="1626750"/>
            <a:ext cx="3711300" cy="1890000"/>
          </a:xfrm>
          <a:prstGeom prst="rect">
            <a:avLst/>
          </a:prstGeom>
          <a:solidFill>
            <a:srgbClr val="000000">
              <a:alpha val="56540"/>
            </a:srgbClr>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3000">
                <a:solidFill>
                  <a:srgbClr val="FFFFFF"/>
                </a:solidFill>
                <a:latin typeface="Calibri"/>
                <a:ea typeface="Calibri"/>
                <a:cs typeface="Calibri"/>
                <a:sym typeface="Calibri"/>
              </a:rPr>
              <a:t>Choosing a CRM Solution For International SMEs</a:t>
            </a:r>
            <a:endParaRPr sz="3000">
              <a:solidFill>
                <a:srgbClr val="FFFFFF"/>
              </a:solidFill>
              <a:latin typeface="Calibri"/>
              <a:ea typeface="Calibri"/>
              <a:cs typeface="Calibri"/>
              <a:sym typeface="Calibri"/>
            </a:endParaRPr>
          </a:p>
          <a:p>
            <a:pPr indent="0" lvl="0" marL="0" rtl="0" algn="ctr">
              <a:spcBef>
                <a:spcPts val="0"/>
              </a:spcBef>
              <a:spcAft>
                <a:spcPts val="0"/>
              </a:spcAft>
              <a:buNone/>
            </a:pPr>
            <a:r>
              <a:t/>
            </a:r>
            <a:endParaRPr>
              <a:solidFill>
                <a:srgbClr val="FFFFFF"/>
              </a:solidFill>
              <a:latin typeface="Calibri"/>
              <a:ea typeface="Calibri"/>
              <a:cs typeface="Calibri"/>
              <a:sym typeface="Calibri"/>
            </a:endParaRPr>
          </a:p>
          <a:p>
            <a:pPr indent="0" lvl="0" marL="0" rtl="0" algn="ctr">
              <a:spcBef>
                <a:spcPts val="0"/>
              </a:spcBef>
              <a:spcAft>
                <a:spcPts val="0"/>
              </a:spcAft>
              <a:buNone/>
            </a:pPr>
            <a:r>
              <a:rPr lang="en-GB" sz="1000">
                <a:solidFill>
                  <a:srgbClr val="FFFFFF"/>
                </a:solidFill>
                <a:latin typeface="Calibri"/>
                <a:ea typeface="Calibri"/>
                <a:cs typeface="Calibri"/>
                <a:sym typeface="Calibri"/>
              </a:rPr>
              <a:t>Group 8</a:t>
            </a:r>
            <a:endParaRPr sz="1000">
              <a:solidFill>
                <a:srgbClr val="FFFFFF"/>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0" name="Shape 60"/>
        <p:cNvGrpSpPr/>
        <p:nvPr/>
      </p:nvGrpSpPr>
      <p:grpSpPr>
        <a:xfrm>
          <a:off x="0" y="0"/>
          <a:ext cx="0" cy="0"/>
          <a:chOff x="0" y="0"/>
          <a:chExt cx="0" cy="0"/>
        </a:xfrm>
      </p:grpSpPr>
      <p:sp>
        <p:nvSpPr>
          <p:cNvPr id="61" name="Google Shape;61;p14"/>
          <p:cNvSpPr txBox="1"/>
          <p:nvPr/>
        </p:nvSpPr>
        <p:spPr>
          <a:xfrm>
            <a:off x="2411950" y="411750"/>
            <a:ext cx="2087400" cy="20754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300">
                <a:solidFill>
                  <a:srgbClr val="FFFFFF"/>
                </a:solidFill>
                <a:latin typeface="Calibri"/>
                <a:ea typeface="Calibri"/>
                <a:cs typeface="Calibri"/>
                <a:sym typeface="Calibri"/>
              </a:rPr>
              <a:t>1.</a:t>
            </a:r>
            <a:r>
              <a:rPr b="1" lang="en-GB" sz="2300">
                <a:solidFill>
                  <a:srgbClr val="FFFFFF"/>
                </a:solidFill>
                <a:latin typeface="Calibri"/>
                <a:ea typeface="Calibri"/>
                <a:cs typeface="Calibri"/>
                <a:sym typeface="Calibri"/>
              </a:rPr>
              <a:t>Introduction</a:t>
            </a:r>
            <a:r>
              <a:rPr lang="en-GB" sz="2300">
                <a:solidFill>
                  <a:srgbClr val="FFFFFF"/>
                </a:solidFill>
                <a:latin typeface="Calibri"/>
                <a:ea typeface="Calibri"/>
                <a:cs typeface="Calibri"/>
                <a:sym typeface="Calibri"/>
              </a:rPr>
              <a:t> and </a:t>
            </a:r>
            <a:r>
              <a:rPr b="1" lang="en-GB" sz="2300">
                <a:solidFill>
                  <a:srgbClr val="FFFFFF"/>
                </a:solidFill>
                <a:latin typeface="Calibri"/>
                <a:ea typeface="Calibri"/>
                <a:cs typeface="Calibri"/>
                <a:sym typeface="Calibri"/>
              </a:rPr>
              <a:t>challenges</a:t>
            </a:r>
            <a:endParaRPr b="1" sz="2300">
              <a:solidFill>
                <a:srgbClr val="FFFFFF"/>
              </a:solidFill>
              <a:latin typeface="Calibri"/>
              <a:ea typeface="Calibri"/>
              <a:cs typeface="Calibri"/>
              <a:sym typeface="Calibri"/>
            </a:endParaRPr>
          </a:p>
        </p:txBody>
      </p:sp>
      <p:sp>
        <p:nvSpPr>
          <p:cNvPr id="62" name="Google Shape;62;p14"/>
          <p:cNvSpPr/>
          <p:nvPr/>
        </p:nvSpPr>
        <p:spPr>
          <a:xfrm>
            <a:off x="2411950" y="2607575"/>
            <a:ext cx="2087400" cy="21174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400">
                <a:solidFill>
                  <a:srgbClr val="FFFFFF"/>
                </a:solidFill>
                <a:latin typeface="Calibri"/>
                <a:ea typeface="Calibri"/>
                <a:cs typeface="Calibri"/>
                <a:sym typeface="Calibri"/>
              </a:rPr>
              <a:t>3.</a:t>
            </a:r>
            <a:r>
              <a:rPr b="1" lang="en-GB" sz="2400">
                <a:solidFill>
                  <a:srgbClr val="FFFFFF"/>
                </a:solidFill>
                <a:latin typeface="Calibri"/>
                <a:ea typeface="Calibri"/>
                <a:cs typeface="Calibri"/>
                <a:sym typeface="Calibri"/>
              </a:rPr>
              <a:t>Discussion</a:t>
            </a:r>
            <a:endParaRPr b="1" sz="2400">
              <a:solidFill>
                <a:srgbClr val="FFFFFF"/>
              </a:solidFill>
              <a:latin typeface="Calibri"/>
              <a:ea typeface="Calibri"/>
              <a:cs typeface="Calibri"/>
              <a:sym typeface="Calibri"/>
            </a:endParaRPr>
          </a:p>
        </p:txBody>
      </p:sp>
      <p:sp>
        <p:nvSpPr>
          <p:cNvPr id="63" name="Google Shape;63;p14"/>
          <p:cNvSpPr/>
          <p:nvPr/>
        </p:nvSpPr>
        <p:spPr>
          <a:xfrm>
            <a:off x="4644655" y="411750"/>
            <a:ext cx="2087400" cy="4313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800">
                <a:solidFill>
                  <a:srgbClr val="FFFFFF"/>
                </a:solidFill>
              </a:rPr>
              <a:t>2.</a:t>
            </a:r>
            <a:r>
              <a:rPr lang="en-GB" sz="2800">
                <a:solidFill>
                  <a:srgbClr val="FFFFFF"/>
                </a:solidFill>
              </a:rPr>
              <a:t>Problem </a:t>
            </a:r>
            <a:r>
              <a:rPr b="1" lang="en-GB" sz="2800">
                <a:solidFill>
                  <a:srgbClr val="FFFFFF"/>
                </a:solidFill>
              </a:rPr>
              <a:t>Solution</a:t>
            </a:r>
            <a:endParaRPr b="1" sz="2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7" name="Shape 67"/>
        <p:cNvGrpSpPr/>
        <p:nvPr/>
      </p:nvGrpSpPr>
      <p:grpSpPr>
        <a:xfrm>
          <a:off x="0" y="0"/>
          <a:ext cx="0" cy="0"/>
          <a:chOff x="0" y="0"/>
          <a:chExt cx="0" cy="0"/>
        </a:xfrm>
      </p:grpSpPr>
      <p:sp>
        <p:nvSpPr>
          <p:cNvPr id="68" name="Google Shape;68;p15"/>
          <p:cNvSpPr/>
          <p:nvPr/>
        </p:nvSpPr>
        <p:spPr>
          <a:xfrm>
            <a:off x="785363" y="1243425"/>
            <a:ext cx="660000" cy="66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434343"/>
                </a:solidFill>
                <a:latin typeface="Calibri"/>
                <a:ea typeface="Calibri"/>
                <a:cs typeface="Calibri"/>
                <a:sym typeface="Calibri"/>
              </a:rPr>
              <a:t>1986</a:t>
            </a:r>
            <a:endParaRPr b="1">
              <a:solidFill>
                <a:srgbClr val="434343"/>
              </a:solidFill>
              <a:latin typeface="Calibri"/>
              <a:ea typeface="Calibri"/>
              <a:cs typeface="Calibri"/>
              <a:sym typeface="Calibri"/>
            </a:endParaRPr>
          </a:p>
        </p:txBody>
      </p:sp>
      <p:sp>
        <p:nvSpPr>
          <p:cNvPr id="69" name="Google Shape;69;p15"/>
          <p:cNvSpPr/>
          <p:nvPr/>
        </p:nvSpPr>
        <p:spPr>
          <a:xfrm>
            <a:off x="3806688" y="1243425"/>
            <a:ext cx="660000" cy="66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5"/>
          <p:cNvSpPr/>
          <p:nvPr/>
        </p:nvSpPr>
        <p:spPr>
          <a:xfrm>
            <a:off x="5220113" y="1243425"/>
            <a:ext cx="660000" cy="66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GB">
                <a:solidFill>
                  <a:srgbClr val="434343"/>
                </a:solidFill>
                <a:latin typeface="Calibri"/>
                <a:ea typeface="Calibri"/>
                <a:cs typeface="Calibri"/>
                <a:sym typeface="Calibri"/>
              </a:rPr>
              <a:t>2011</a:t>
            </a:r>
            <a:endParaRPr b="1">
              <a:solidFill>
                <a:srgbClr val="434343"/>
              </a:solidFill>
              <a:latin typeface="Calibri"/>
              <a:ea typeface="Calibri"/>
              <a:cs typeface="Calibri"/>
              <a:sym typeface="Calibri"/>
            </a:endParaRPr>
          </a:p>
        </p:txBody>
      </p:sp>
      <p:sp>
        <p:nvSpPr>
          <p:cNvPr id="71" name="Google Shape;71;p15"/>
          <p:cNvSpPr/>
          <p:nvPr/>
        </p:nvSpPr>
        <p:spPr>
          <a:xfrm>
            <a:off x="6544763" y="2062350"/>
            <a:ext cx="660000" cy="66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GB">
                <a:solidFill>
                  <a:srgbClr val="434343"/>
                </a:solidFill>
                <a:latin typeface="Calibri"/>
                <a:ea typeface="Calibri"/>
                <a:cs typeface="Calibri"/>
                <a:sym typeface="Calibri"/>
              </a:rPr>
              <a:t>2013</a:t>
            </a:r>
            <a:endParaRPr b="1">
              <a:solidFill>
                <a:srgbClr val="434343"/>
              </a:solidFill>
              <a:latin typeface="Calibri"/>
              <a:ea typeface="Calibri"/>
              <a:cs typeface="Calibri"/>
              <a:sym typeface="Calibri"/>
            </a:endParaRPr>
          </a:p>
        </p:txBody>
      </p:sp>
      <p:sp>
        <p:nvSpPr>
          <p:cNvPr id="72" name="Google Shape;72;p15"/>
          <p:cNvSpPr/>
          <p:nvPr/>
        </p:nvSpPr>
        <p:spPr>
          <a:xfrm>
            <a:off x="6544763" y="3530100"/>
            <a:ext cx="660000" cy="66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434343"/>
                </a:solidFill>
              </a:rPr>
              <a:t>Now</a:t>
            </a:r>
            <a:endParaRPr b="1">
              <a:solidFill>
                <a:srgbClr val="434343"/>
              </a:solidFill>
            </a:endParaRPr>
          </a:p>
        </p:txBody>
      </p:sp>
      <p:cxnSp>
        <p:nvCxnSpPr>
          <p:cNvPr id="73" name="Google Shape;73;p15"/>
          <p:cNvCxnSpPr>
            <a:stCxn id="69" idx="3"/>
            <a:endCxn id="70" idx="1"/>
          </p:cNvCxnSpPr>
          <p:nvPr/>
        </p:nvCxnSpPr>
        <p:spPr>
          <a:xfrm>
            <a:off x="4466688" y="1573425"/>
            <a:ext cx="753300" cy="600"/>
          </a:xfrm>
          <a:prstGeom prst="curvedConnector3">
            <a:avLst>
              <a:gd fmla="val 50008" name="adj1"/>
            </a:avLst>
          </a:prstGeom>
          <a:noFill/>
          <a:ln cap="flat" cmpd="sng" w="19050">
            <a:solidFill>
              <a:schemeClr val="dk2"/>
            </a:solidFill>
            <a:prstDash val="lgDash"/>
            <a:round/>
            <a:headEnd len="med" w="med" type="none"/>
            <a:tailEnd len="med" w="med" type="triangle"/>
          </a:ln>
        </p:spPr>
      </p:cxnSp>
      <p:cxnSp>
        <p:nvCxnSpPr>
          <p:cNvPr id="74" name="Google Shape;74;p15"/>
          <p:cNvCxnSpPr>
            <a:stCxn id="70" idx="3"/>
            <a:endCxn id="71" idx="0"/>
          </p:cNvCxnSpPr>
          <p:nvPr/>
        </p:nvCxnSpPr>
        <p:spPr>
          <a:xfrm>
            <a:off x="5880113" y="1573425"/>
            <a:ext cx="994800" cy="489000"/>
          </a:xfrm>
          <a:prstGeom prst="curvedConnector2">
            <a:avLst/>
          </a:prstGeom>
          <a:noFill/>
          <a:ln cap="flat" cmpd="sng" w="19050">
            <a:solidFill>
              <a:schemeClr val="dk2"/>
            </a:solidFill>
            <a:prstDash val="lgDash"/>
            <a:round/>
            <a:headEnd len="med" w="med" type="none"/>
            <a:tailEnd len="med" w="med" type="triangle"/>
          </a:ln>
        </p:spPr>
      </p:cxnSp>
      <p:cxnSp>
        <p:nvCxnSpPr>
          <p:cNvPr id="75" name="Google Shape;75;p15"/>
          <p:cNvCxnSpPr>
            <a:stCxn id="71" idx="2"/>
            <a:endCxn id="72" idx="0"/>
          </p:cNvCxnSpPr>
          <p:nvPr/>
        </p:nvCxnSpPr>
        <p:spPr>
          <a:xfrm flipH="1" rot="-5400000">
            <a:off x="6471113" y="3126000"/>
            <a:ext cx="807900" cy="600"/>
          </a:xfrm>
          <a:prstGeom prst="curvedConnector3">
            <a:avLst>
              <a:gd fmla="val 50009" name="adj1"/>
            </a:avLst>
          </a:prstGeom>
          <a:noFill/>
          <a:ln cap="flat" cmpd="sng" w="19050">
            <a:solidFill>
              <a:schemeClr val="dk2"/>
            </a:solidFill>
            <a:prstDash val="lgDash"/>
            <a:round/>
            <a:headEnd len="med" w="med" type="none"/>
            <a:tailEnd len="med" w="med" type="triangle"/>
          </a:ln>
        </p:spPr>
      </p:cxnSp>
      <p:cxnSp>
        <p:nvCxnSpPr>
          <p:cNvPr id="76" name="Google Shape;76;p15"/>
          <p:cNvCxnSpPr>
            <a:stCxn id="68" idx="3"/>
            <a:endCxn id="77" idx="1"/>
          </p:cNvCxnSpPr>
          <p:nvPr/>
        </p:nvCxnSpPr>
        <p:spPr>
          <a:xfrm>
            <a:off x="1445363" y="1573425"/>
            <a:ext cx="701400" cy="600"/>
          </a:xfrm>
          <a:prstGeom prst="curvedConnector3">
            <a:avLst>
              <a:gd fmla="val 50000" name="adj1"/>
            </a:avLst>
          </a:prstGeom>
          <a:noFill/>
          <a:ln cap="flat" cmpd="sng" w="19050">
            <a:solidFill>
              <a:schemeClr val="dk2"/>
            </a:solidFill>
            <a:prstDash val="lgDash"/>
            <a:round/>
            <a:headEnd len="med" w="med" type="none"/>
            <a:tailEnd len="med" w="med" type="triangle"/>
          </a:ln>
        </p:spPr>
      </p:cxnSp>
      <p:cxnSp>
        <p:nvCxnSpPr>
          <p:cNvPr id="78" name="Google Shape;78;p15"/>
          <p:cNvCxnSpPr>
            <a:stCxn id="77" idx="3"/>
            <a:endCxn id="69" idx="1"/>
          </p:cNvCxnSpPr>
          <p:nvPr/>
        </p:nvCxnSpPr>
        <p:spPr>
          <a:xfrm>
            <a:off x="2858688" y="1572825"/>
            <a:ext cx="948000" cy="600"/>
          </a:xfrm>
          <a:prstGeom prst="curvedConnector3">
            <a:avLst>
              <a:gd fmla="val 50000" name="adj1"/>
            </a:avLst>
          </a:prstGeom>
          <a:noFill/>
          <a:ln cap="flat" cmpd="sng" w="19050">
            <a:solidFill>
              <a:schemeClr val="dk2"/>
            </a:solidFill>
            <a:prstDash val="lgDash"/>
            <a:round/>
            <a:headEnd len="med" w="med" type="none"/>
            <a:tailEnd len="med" w="med" type="triangle"/>
          </a:ln>
        </p:spPr>
      </p:cxnSp>
      <p:sp>
        <p:nvSpPr>
          <p:cNvPr id="79" name="Google Shape;79;p15"/>
          <p:cNvSpPr txBox="1"/>
          <p:nvPr>
            <p:ph type="title"/>
          </p:nvPr>
        </p:nvSpPr>
        <p:spPr>
          <a:xfrm>
            <a:off x="-86850" y="68650"/>
            <a:ext cx="9341400" cy="572700"/>
          </a:xfrm>
          <a:prstGeom prst="rect">
            <a:avLst/>
          </a:prstGeom>
          <a:solidFill>
            <a:schemeClr val="accent3"/>
          </a:solidFill>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FFFFF"/>
                </a:solidFill>
                <a:latin typeface="Calibri"/>
                <a:ea typeface="Calibri"/>
                <a:cs typeface="Calibri"/>
                <a:sym typeface="Calibri"/>
              </a:rPr>
              <a:t>    </a:t>
            </a:r>
            <a:r>
              <a:rPr lang="en-GB">
                <a:solidFill>
                  <a:srgbClr val="FFFFFF"/>
                </a:solidFill>
                <a:latin typeface="Calibri"/>
                <a:ea typeface="Calibri"/>
                <a:cs typeface="Calibri"/>
                <a:sym typeface="Calibri"/>
              </a:rPr>
              <a:t>Atlantis SME Timeline</a:t>
            </a:r>
            <a:endParaRPr>
              <a:solidFill>
                <a:srgbClr val="FFFFFF"/>
              </a:solidFill>
              <a:latin typeface="Calibri"/>
              <a:ea typeface="Calibri"/>
              <a:cs typeface="Calibri"/>
              <a:sym typeface="Calibri"/>
            </a:endParaRPr>
          </a:p>
        </p:txBody>
      </p:sp>
      <p:sp>
        <p:nvSpPr>
          <p:cNvPr id="80" name="Google Shape;80;p15"/>
          <p:cNvSpPr txBox="1"/>
          <p:nvPr/>
        </p:nvSpPr>
        <p:spPr>
          <a:xfrm>
            <a:off x="625925" y="2106000"/>
            <a:ext cx="978900" cy="904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a:solidFill>
                  <a:srgbClr val="FFFFFF"/>
                </a:solidFill>
                <a:latin typeface="Trebuchet MS"/>
                <a:ea typeface="Trebuchet MS"/>
                <a:cs typeface="Trebuchet MS"/>
                <a:sym typeface="Trebuchet MS"/>
              </a:rPr>
              <a:t>Atlantis was found</a:t>
            </a:r>
            <a:endParaRPr>
              <a:solidFill>
                <a:srgbClr val="FFFFFF"/>
              </a:solidFill>
            </a:endParaRPr>
          </a:p>
        </p:txBody>
      </p:sp>
      <p:sp>
        <p:nvSpPr>
          <p:cNvPr id="81" name="Google Shape;81;p15"/>
          <p:cNvSpPr txBox="1"/>
          <p:nvPr/>
        </p:nvSpPr>
        <p:spPr>
          <a:xfrm>
            <a:off x="1853900" y="2149250"/>
            <a:ext cx="1297800" cy="1911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Trebuchet MS"/>
                <a:ea typeface="Trebuchet MS"/>
                <a:cs typeface="Trebuchet MS"/>
                <a:sym typeface="Trebuchet MS"/>
              </a:rPr>
              <a:t>T</a:t>
            </a:r>
            <a:r>
              <a:rPr lang="en-GB">
                <a:solidFill>
                  <a:srgbClr val="FFFFFF"/>
                </a:solidFill>
                <a:latin typeface="Trebuchet MS"/>
                <a:ea typeface="Trebuchet MS"/>
                <a:cs typeface="Trebuchet MS"/>
                <a:sym typeface="Trebuchet MS"/>
              </a:rPr>
              <a:t>he leader decided to diversify the business to paper bag and high-end boxes production</a:t>
            </a:r>
            <a:endParaRPr>
              <a:solidFill>
                <a:srgbClr val="FFFFFF"/>
              </a:solidFill>
            </a:endParaRPr>
          </a:p>
        </p:txBody>
      </p:sp>
      <p:sp>
        <p:nvSpPr>
          <p:cNvPr id="82" name="Google Shape;82;p15"/>
          <p:cNvSpPr txBox="1"/>
          <p:nvPr/>
        </p:nvSpPr>
        <p:spPr>
          <a:xfrm>
            <a:off x="3532050" y="2149250"/>
            <a:ext cx="1209300" cy="10389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a:solidFill>
                  <a:srgbClr val="FFFFFF"/>
                </a:solidFill>
                <a:latin typeface="Calibri"/>
                <a:ea typeface="Calibri"/>
                <a:cs typeface="Calibri"/>
                <a:sym typeface="Calibri"/>
              </a:rPr>
              <a:t>Atlantis </a:t>
            </a:r>
            <a:r>
              <a:rPr lang="en-GB">
                <a:solidFill>
                  <a:srgbClr val="FFFFFF"/>
                </a:solidFill>
                <a:latin typeface="Calibri"/>
                <a:ea typeface="Calibri"/>
                <a:cs typeface="Calibri"/>
                <a:sym typeface="Calibri"/>
              </a:rPr>
              <a:t>worked in partnership with China</a:t>
            </a:r>
            <a:endParaRPr>
              <a:solidFill>
                <a:srgbClr val="FFFFFF"/>
              </a:solidFill>
              <a:latin typeface="Calibri"/>
              <a:ea typeface="Calibri"/>
              <a:cs typeface="Calibri"/>
              <a:sym typeface="Calibri"/>
            </a:endParaRPr>
          </a:p>
        </p:txBody>
      </p:sp>
      <p:sp>
        <p:nvSpPr>
          <p:cNvPr id="83" name="Google Shape;83;p15"/>
          <p:cNvSpPr txBox="1"/>
          <p:nvPr/>
        </p:nvSpPr>
        <p:spPr>
          <a:xfrm>
            <a:off x="4945475" y="2149250"/>
            <a:ext cx="1209300" cy="10389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Calibri"/>
                <a:ea typeface="Calibri"/>
                <a:cs typeface="Calibri"/>
                <a:sym typeface="Calibri"/>
              </a:rPr>
              <a:t>Moving purchase department to Hong Kong</a:t>
            </a:r>
            <a:endParaRPr>
              <a:solidFill>
                <a:srgbClr val="FFFFFF"/>
              </a:solidFill>
              <a:latin typeface="Calibri"/>
              <a:ea typeface="Calibri"/>
              <a:cs typeface="Calibri"/>
              <a:sym typeface="Calibri"/>
            </a:endParaRPr>
          </a:p>
        </p:txBody>
      </p:sp>
      <p:sp>
        <p:nvSpPr>
          <p:cNvPr id="84" name="Google Shape;84;p15"/>
          <p:cNvSpPr txBox="1"/>
          <p:nvPr/>
        </p:nvSpPr>
        <p:spPr>
          <a:xfrm>
            <a:off x="7431325" y="1903725"/>
            <a:ext cx="1209300" cy="10389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Calibri"/>
                <a:ea typeface="Calibri"/>
                <a:cs typeface="Calibri"/>
                <a:sym typeface="Calibri"/>
              </a:rPr>
              <a:t>Atlantis own factory in China</a:t>
            </a:r>
            <a:endParaRPr>
              <a:solidFill>
                <a:srgbClr val="FFFFFF"/>
              </a:solidFill>
              <a:latin typeface="Calibri"/>
              <a:ea typeface="Calibri"/>
              <a:cs typeface="Calibri"/>
              <a:sym typeface="Calibri"/>
            </a:endParaRPr>
          </a:p>
        </p:txBody>
      </p:sp>
      <p:sp>
        <p:nvSpPr>
          <p:cNvPr id="85" name="Google Shape;85;p15"/>
          <p:cNvSpPr txBox="1"/>
          <p:nvPr/>
        </p:nvSpPr>
        <p:spPr>
          <a:xfrm>
            <a:off x="7431325" y="3407700"/>
            <a:ext cx="1209300" cy="904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Calibri"/>
                <a:ea typeface="Calibri"/>
                <a:cs typeface="Calibri"/>
                <a:sym typeface="Calibri"/>
              </a:rPr>
              <a:t>CRM software is in urgent need</a:t>
            </a:r>
            <a:endParaRPr>
              <a:solidFill>
                <a:srgbClr val="FFFFFF"/>
              </a:solidFill>
              <a:latin typeface="Calibri"/>
              <a:ea typeface="Calibri"/>
              <a:cs typeface="Calibri"/>
              <a:sym typeface="Calibri"/>
            </a:endParaRPr>
          </a:p>
        </p:txBody>
      </p:sp>
      <p:sp>
        <p:nvSpPr>
          <p:cNvPr id="86" name="Google Shape;86;p15"/>
          <p:cNvSpPr/>
          <p:nvPr/>
        </p:nvSpPr>
        <p:spPr>
          <a:xfrm>
            <a:off x="2172788" y="1243725"/>
            <a:ext cx="660000" cy="66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434343"/>
              </a:solidFill>
              <a:latin typeface="Calibri"/>
              <a:ea typeface="Calibri"/>
              <a:cs typeface="Calibri"/>
              <a:sym typeface="Calibri"/>
            </a:endParaRPr>
          </a:p>
        </p:txBody>
      </p:sp>
      <p:pic>
        <p:nvPicPr>
          <p:cNvPr id="87" name="Google Shape;87;p15"/>
          <p:cNvPicPr preferRelativeResize="0"/>
          <p:nvPr/>
        </p:nvPicPr>
        <p:blipFill>
          <a:blip r:embed="rId3">
            <a:alphaModFix/>
          </a:blip>
          <a:stretch>
            <a:fillRect/>
          </a:stretch>
        </p:blipFill>
        <p:spPr>
          <a:xfrm>
            <a:off x="3806575" y="1243725"/>
            <a:ext cx="660000" cy="660000"/>
          </a:xfrm>
          <a:prstGeom prst="rect">
            <a:avLst/>
          </a:prstGeom>
          <a:noFill/>
          <a:ln>
            <a:noFill/>
          </a:ln>
        </p:spPr>
      </p:pic>
      <p:pic>
        <p:nvPicPr>
          <p:cNvPr id="88" name="Google Shape;88;p15"/>
          <p:cNvPicPr preferRelativeResize="0"/>
          <p:nvPr/>
        </p:nvPicPr>
        <p:blipFill>
          <a:blip r:embed="rId4">
            <a:alphaModFix/>
          </a:blip>
          <a:stretch>
            <a:fillRect/>
          </a:stretch>
        </p:blipFill>
        <p:spPr>
          <a:xfrm>
            <a:off x="2216388" y="1287375"/>
            <a:ext cx="572700" cy="572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2" name="Shape 92"/>
        <p:cNvGrpSpPr/>
        <p:nvPr/>
      </p:nvGrpSpPr>
      <p:grpSpPr>
        <a:xfrm>
          <a:off x="0" y="0"/>
          <a:ext cx="0" cy="0"/>
          <a:chOff x="0" y="0"/>
          <a:chExt cx="0" cy="0"/>
        </a:xfrm>
      </p:grpSpPr>
      <p:sp>
        <p:nvSpPr>
          <p:cNvPr id="93" name="Google Shape;93;p16"/>
          <p:cNvSpPr txBox="1"/>
          <p:nvPr>
            <p:ph type="title"/>
          </p:nvPr>
        </p:nvSpPr>
        <p:spPr>
          <a:xfrm>
            <a:off x="271450" y="924475"/>
            <a:ext cx="8520600" cy="3454800"/>
          </a:xfrm>
          <a:prstGeom prst="rect">
            <a:avLst/>
          </a:prstGeom>
          <a:solidFill>
            <a:schemeClr val="accent3"/>
          </a:solidFill>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rgbClr val="FFFFFF"/>
              </a:buClr>
              <a:buSzPts val="1800"/>
              <a:buFont typeface="Calibri"/>
              <a:buChar char="❖"/>
            </a:pPr>
            <a:r>
              <a:rPr lang="en-GB" sz="1800">
                <a:solidFill>
                  <a:srgbClr val="FFFFFF"/>
                </a:solidFill>
                <a:latin typeface="Calibri"/>
                <a:ea typeface="Calibri"/>
                <a:cs typeface="Calibri"/>
                <a:sym typeface="Calibri"/>
              </a:rPr>
              <a:t>Lack of efficient </a:t>
            </a:r>
            <a:r>
              <a:rPr b="1" lang="en-GB" sz="1800">
                <a:solidFill>
                  <a:srgbClr val="FFFFFF"/>
                </a:solidFill>
                <a:latin typeface="Calibri"/>
                <a:ea typeface="Calibri"/>
                <a:cs typeface="Calibri"/>
                <a:sym typeface="Calibri"/>
              </a:rPr>
              <a:t>Communication Channels</a:t>
            </a:r>
            <a:endParaRPr b="1" sz="1800">
              <a:solidFill>
                <a:srgbClr val="FFFFFF"/>
              </a:solidFill>
              <a:latin typeface="Calibri"/>
              <a:ea typeface="Calibri"/>
              <a:cs typeface="Calibri"/>
              <a:sym typeface="Calibri"/>
            </a:endParaRPr>
          </a:p>
          <a:p>
            <a:pPr indent="-342900" lvl="0" marL="914400" rtl="0" algn="l">
              <a:lnSpc>
                <a:spcPct val="150000"/>
              </a:lnSpc>
              <a:spcBef>
                <a:spcPts val="0"/>
              </a:spcBef>
              <a:spcAft>
                <a:spcPts val="0"/>
              </a:spcAft>
              <a:buClr>
                <a:srgbClr val="FFFFFF"/>
              </a:buClr>
              <a:buSzPts val="1800"/>
              <a:buFont typeface="Calibri"/>
              <a:buChar char="-"/>
            </a:pPr>
            <a:r>
              <a:rPr lang="en-GB" sz="1800">
                <a:solidFill>
                  <a:srgbClr val="FFFFFF"/>
                </a:solidFill>
                <a:latin typeface="Calibri"/>
                <a:ea typeface="Calibri"/>
                <a:cs typeface="Calibri"/>
                <a:sym typeface="Calibri"/>
              </a:rPr>
              <a:t>Telephone communications caused extra costs</a:t>
            </a:r>
            <a:endParaRPr sz="1800">
              <a:solidFill>
                <a:srgbClr val="FFFFFF"/>
              </a:solidFill>
              <a:latin typeface="Calibri"/>
              <a:ea typeface="Calibri"/>
              <a:cs typeface="Calibri"/>
              <a:sym typeface="Calibri"/>
            </a:endParaRPr>
          </a:p>
          <a:p>
            <a:pPr indent="-342900" lvl="0" marL="914400" rtl="0" algn="l">
              <a:lnSpc>
                <a:spcPct val="150000"/>
              </a:lnSpc>
              <a:spcBef>
                <a:spcPts val="0"/>
              </a:spcBef>
              <a:spcAft>
                <a:spcPts val="0"/>
              </a:spcAft>
              <a:buClr>
                <a:srgbClr val="FFFFFF"/>
              </a:buClr>
              <a:buSzPts val="1800"/>
              <a:buFont typeface="Calibri"/>
              <a:buChar char="-"/>
            </a:pPr>
            <a:r>
              <a:rPr lang="en-GB" sz="1800">
                <a:solidFill>
                  <a:srgbClr val="FFFFFF"/>
                </a:solidFill>
                <a:latin typeface="Calibri"/>
                <a:ea typeface="Calibri"/>
                <a:cs typeface="Calibri"/>
                <a:sym typeface="Calibri"/>
              </a:rPr>
              <a:t>Email </a:t>
            </a:r>
            <a:r>
              <a:rPr lang="en-GB" sz="1800">
                <a:solidFill>
                  <a:srgbClr val="FFFFFF"/>
                </a:solidFill>
                <a:latin typeface="Calibri"/>
                <a:ea typeface="Calibri"/>
                <a:cs typeface="Calibri"/>
                <a:sym typeface="Calibri"/>
              </a:rPr>
              <a:t>communication</a:t>
            </a:r>
            <a:r>
              <a:rPr lang="en-GB" sz="1800">
                <a:solidFill>
                  <a:srgbClr val="FFFFFF"/>
                </a:solidFill>
                <a:latin typeface="Calibri"/>
                <a:ea typeface="Calibri"/>
                <a:cs typeface="Calibri"/>
                <a:sym typeface="Calibri"/>
              </a:rPr>
              <a:t> left hiccups</a:t>
            </a:r>
            <a:endParaRPr sz="1800">
              <a:solidFill>
                <a:srgbClr val="FFFFFF"/>
              </a:solidFill>
              <a:latin typeface="Calibri"/>
              <a:ea typeface="Calibri"/>
              <a:cs typeface="Calibri"/>
              <a:sym typeface="Calibri"/>
            </a:endParaRPr>
          </a:p>
          <a:p>
            <a:pPr indent="-342900" lvl="0" marL="457200" rtl="0" algn="l">
              <a:lnSpc>
                <a:spcPct val="150000"/>
              </a:lnSpc>
              <a:spcBef>
                <a:spcPts val="0"/>
              </a:spcBef>
              <a:spcAft>
                <a:spcPts val="0"/>
              </a:spcAft>
              <a:buClr>
                <a:srgbClr val="FFFFFF"/>
              </a:buClr>
              <a:buSzPts val="1800"/>
              <a:buFont typeface="Calibri"/>
              <a:buChar char="❖"/>
            </a:pPr>
            <a:r>
              <a:rPr lang="en-GB" sz="1800">
                <a:solidFill>
                  <a:srgbClr val="FFFFFF"/>
                </a:solidFill>
                <a:latin typeface="Calibri"/>
                <a:ea typeface="Calibri"/>
                <a:cs typeface="Calibri"/>
                <a:sym typeface="Calibri"/>
              </a:rPr>
              <a:t>Lack of optimized </a:t>
            </a:r>
            <a:r>
              <a:rPr b="1" lang="en-GB" sz="1800">
                <a:solidFill>
                  <a:srgbClr val="FFFFFF"/>
                </a:solidFill>
                <a:latin typeface="Calibri"/>
                <a:ea typeface="Calibri"/>
                <a:cs typeface="Calibri"/>
                <a:sym typeface="Calibri"/>
              </a:rPr>
              <a:t>Information Sharing and Transmission Process</a:t>
            </a:r>
            <a:endParaRPr b="1" sz="1800">
              <a:solidFill>
                <a:srgbClr val="FFFFFF"/>
              </a:solidFill>
              <a:latin typeface="Calibri"/>
              <a:ea typeface="Calibri"/>
              <a:cs typeface="Calibri"/>
              <a:sym typeface="Calibri"/>
            </a:endParaRPr>
          </a:p>
          <a:p>
            <a:pPr indent="-342900" lvl="0" marL="914400" rtl="0" algn="l">
              <a:lnSpc>
                <a:spcPct val="150000"/>
              </a:lnSpc>
              <a:spcBef>
                <a:spcPts val="0"/>
              </a:spcBef>
              <a:spcAft>
                <a:spcPts val="0"/>
              </a:spcAft>
              <a:buClr>
                <a:srgbClr val="FFFFFF"/>
              </a:buClr>
              <a:buSzPts val="1800"/>
              <a:buFont typeface="Calibri"/>
              <a:buChar char="-"/>
            </a:pPr>
            <a:r>
              <a:rPr lang="en-GB" sz="1800">
                <a:solidFill>
                  <a:srgbClr val="FFFFFF"/>
                </a:solidFill>
                <a:latin typeface="Calibri"/>
                <a:ea typeface="Calibri"/>
                <a:cs typeface="Calibri"/>
                <a:sym typeface="Calibri"/>
              </a:rPr>
              <a:t>Hong Kong has an isolate server</a:t>
            </a:r>
            <a:endParaRPr sz="1800">
              <a:solidFill>
                <a:srgbClr val="FFFFFF"/>
              </a:solidFill>
              <a:latin typeface="Calibri"/>
              <a:ea typeface="Calibri"/>
              <a:cs typeface="Calibri"/>
              <a:sym typeface="Calibri"/>
            </a:endParaRPr>
          </a:p>
          <a:p>
            <a:pPr indent="-342900" lvl="0" marL="914400" rtl="0" algn="l">
              <a:lnSpc>
                <a:spcPct val="150000"/>
              </a:lnSpc>
              <a:spcBef>
                <a:spcPts val="0"/>
              </a:spcBef>
              <a:spcAft>
                <a:spcPts val="0"/>
              </a:spcAft>
              <a:buClr>
                <a:srgbClr val="FFFFFF"/>
              </a:buClr>
              <a:buSzPts val="1800"/>
              <a:buFont typeface="Calibri"/>
              <a:buChar char="-"/>
            </a:pPr>
            <a:r>
              <a:rPr lang="en-GB" sz="1800">
                <a:solidFill>
                  <a:srgbClr val="FFFFFF"/>
                </a:solidFill>
                <a:latin typeface="Calibri"/>
                <a:ea typeface="Calibri"/>
                <a:cs typeface="Calibri"/>
                <a:sym typeface="Calibri"/>
              </a:rPr>
              <a:t>Records transmission process lack efficiency</a:t>
            </a:r>
            <a:endParaRPr sz="1800">
              <a:solidFill>
                <a:srgbClr val="FFFFFF"/>
              </a:solidFill>
              <a:latin typeface="Calibri"/>
              <a:ea typeface="Calibri"/>
              <a:cs typeface="Calibri"/>
              <a:sym typeface="Calibri"/>
            </a:endParaRPr>
          </a:p>
          <a:p>
            <a:pPr indent="-342900" lvl="0" marL="457200" rtl="0" algn="l">
              <a:lnSpc>
                <a:spcPct val="150000"/>
              </a:lnSpc>
              <a:spcBef>
                <a:spcPts val="0"/>
              </a:spcBef>
              <a:spcAft>
                <a:spcPts val="0"/>
              </a:spcAft>
              <a:buClr>
                <a:srgbClr val="FFFFFF"/>
              </a:buClr>
              <a:buSzPts val="1800"/>
              <a:buFont typeface="Calibri"/>
              <a:buChar char="❖"/>
            </a:pPr>
            <a:r>
              <a:rPr lang="en-GB" sz="1800">
                <a:solidFill>
                  <a:srgbClr val="FFFFFF"/>
                </a:solidFill>
                <a:latin typeface="Calibri"/>
                <a:ea typeface="Calibri"/>
                <a:cs typeface="Calibri"/>
                <a:sym typeface="Calibri"/>
              </a:rPr>
              <a:t>Commercial have </a:t>
            </a:r>
            <a:r>
              <a:rPr b="1" lang="en-GB" sz="1800">
                <a:solidFill>
                  <a:srgbClr val="FFFFFF"/>
                </a:solidFill>
                <a:latin typeface="Calibri"/>
                <a:ea typeface="Calibri"/>
                <a:cs typeface="Calibri"/>
                <a:sym typeface="Calibri"/>
              </a:rPr>
              <a:t>Limited </a:t>
            </a:r>
            <a:r>
              <a:rPr lang="en-GB" sz="1800">
                <a:solidFill>
                  <a:srgbClr val="FFFFFF"/>
                </a:solidFill>
                <a:latin typeface="Calibri"/>
                <a:ea typeface="Calibri"/>
                <a:cs typeface="Calibri"/>
                <a:sym typeface="Calibri"/>
              </a:rPr>
              <a:t>IT resources</a:t>
            </a:r>
            <a:endParaRPr sz="1800">
              <a:solidFill>
                <a:srgbClr val="FFFFFF"/>
              </a:solidFill>
              <a:latin typeface="Calibri"/>
              <a:ea typeface="Calibri"/>
              <a:cs typeface="Calibri"/>
              <a:sym typeface="Calibri"/>
            </a:endParaRPr>
          </a:p>
          <a:p>
            <a:pPr indent="-342900" lvl="0" marL="457200" rtl="0" algn="l">
              <a:lnSpc>
                <a:spcPct val="150000"/>
              </a:lnSpc>
              <a:spcBef>
                <a:spcPts val="0"/>
              </a:spcBef>
              <a:spcAft>
                <a:spcPts val="0"/>
              </a:spcAft>
              <a:buClr>
                <a:srgbClr val="FFFFFF"/>
              </a:buClr>
              <a:buSzPts val="1800"/>
              <a:buFont typeface="Calibri"/>
              <a:buChar char="❖"/>
            </a:pPr>
            <a:r>
              <a:rPr lang="en-GB" sz="1800">
                <a:solidFill>
                  <a:srgbClr val="FFFFFF"/>
                </a:solidFill>
                <a:latin typeface="Calibri"/>
                <a:ea typeface="Calibri"/>
                <a:cs typeface="Calibri"/>
                <a:sym typeface="Calibri"/>
              </a:rPr>
              <a:t>Employees </a:t>
            </a:r>
            <a:r>
              <a:rPr b="1" lang="en-GB" sz="1800">
                <a:solidFill>
                  <a:srgbClr val="FFFFFF"/>
                </a:solidFill>
                <a:latin typeface="Calibri"/>
                <a:ea typeface="Calibri"/>
                <a:cs typeface="Calibri"/>
                <a:sym typeface="Calibri"/>
              </a:rPr>
              <a:t>High Turnover</a:t>
            </a:r>
            <a:endParaRPr b="1" sz="1800">
              <a:solidFill>
                <a:srgbClr val="FFFFFF"/>
              </a:solidFill>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t/>
            </a:r>
            <a:endParaRPr sz="1800">
              <a:solidFill>
                <a:srgbClr val="FFFFFF"/>
              </a:solidFill>
              <a:latin typeface="Calibri"/>
              <a:ea typeface="Calibri"/>
              <a:cs typeface="Calibri"/>
              <a:sym typeface="Calibri"/>
            </a:endParaRPr>
          </a:p>
          <a:p>
            <a:pPr indent="0" lvl="0" marL="0" rtl="0" algn="l">
              <a:lnSpc>
                <a:spcPct val="150000"/>
              </a:lnSpc>
              <a:spcBef>
                <a:spcPts val="0"/>
              </a:spcBef>
              <a:spcAft>
                <a:spcPts val="0"/>
              </a:spcAft>
              <a:buNone/>
            </a:pPr>
            <a:r>
              <a:t/>
            </a:r>
            <a:endParaRPr sz="1800">
              <a:solidFill>
                <a:srgbClr val="FFFFFF"/>
              </a:solidFill>
              <a:latin typeface="Calibri"/>
              <a:ea typeface="Calibri"/>
              <a:cs typeface="Calibri"/>
              <a:sym typeface="Calibri"/>
            </a:endParaRPr>
          </a:p>
        </p:txBody>
      </p:sp>
      <p:sp>
        <p:nvSpPr>
          <p:cNvPr id="94" name="Google Shape;94;p16"/>
          <p:cNvSpPr txBox="1"/>
          <p:nvPr>
            <p:ph type="title"/>
          </p:nvPr>
        </p:nvSpPr>
        <p:spPr>
          <a:xfrm>
            <a:off x="-86850" y="68650"/>
            <a:ext cx="9341400" cy="572700"/>
          </a:xfrm>
          <a:prstGeom prst="rect">
            <a:avLst/>
          </a:prstGeom>
          <a:solidFill>
            <a:schemeClr val="accent3"/>
          </a:solidFill>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FFFFF"/>
                </a:solidFill>
                <a:latin typeface="Calibri"/>
                <a:ea typeface="Calibri"/>
                <a:cs typeface="Calibri"/>
                <a:sym typeface="Calibri"/>
              </a:rPr>
              <a:t>   Atlantis SME Challenges</a:t>
            </a:r>
            <a:endParaRPr>
              <a:solidFill>
                <a:srgbClr val="FFFFFF"/>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8" name="Shape 98"/>
        <p:cNvGrpSpPr/>
        <p:nvPr/>
      </p:nvGrpSpPr>
      <p:grpSpPr>
        <a:xfrm>
          <a:off x="0" y="0"/>
          <a:ext cx="0" cy="0"/>
          <a:chOff x="0" y="0"/>
          <a:chExt cx="0" cy="0"/>
        </a:xfrm>
      </p:grpSpPr>
      <p:sp>
        <p:nvSpPr>
          <p:cNvPr id="99" name="Google Shape;99;p17"/>
          <p:cNvSpPr txBox="1"/>
          <p:nvPr>
            <p:ph type="title"/>
          </p:nvPr>
        </p:nvSpPr>
        <p:spPr>
          <a:xfrm>
            <a:off x="311700" y="1999050"/>
            <a:ext cx="8520600" cy="1214100"/>
          </a:xfrm>
          <a:prstGeom prst="rect">
            <a:avLst/>
          </a:prstGeom>
          <a:solidFill>
            <a:schemeClr val="accent3"/>
          </a:solidFill>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rgbClr val="FFFFFF"/>
                </a:solidFill>
                <a:latin typeface="Calibri"/>
                <a:ea typeface="Calibri"/>
                <a:cs typeface="Calibri"/>
                <a:sym typeface="Calibri"/>
              </a:rPr>
              <a:t>Question 2:</a:t>
            </a:r>
            <a:r>
              <a:rPr lang="en-GB" sz="2000">
                <a:solidFill>
                  <a:srgbClr val="FFFFFF"/>
                </a:solidFill>
                <a:latin typeface="Calibri"/>
                <a:ea typeface="Calibri"/>
                <a:cs typeface="Calibri"/>
                <a:sym typeface="Calibri"/>
              </a:rPr>
              <a:t> </a:t>
            </a:r>
            <a:r>
              <a:rPr lang="en-GB" sz="2000">
                <a:solidFill>
                  <a:srgbClr val="FFFFFF"/>
                </a:solidFill>
                <a:latin typeface="Calibri"/>
                <a:ea typeface="Calibri"/>
                <a:cs typeface="Calibri"/>
                <a:sym typeface="Calibri"/>
              </a:rPr>
              <a:t>What is the CRM solution you propose to the leader of the Atlantis company to solve its problems of communication and collaboration between French and Chinese sites? Present the selection criteria of the solution.</a:t>
            </a:r>
            <a:endParaRPr sz="2000">
              <a:solidFill>
                <a:srgbClr val="FFFFFF"/>
              </a:solidFill>
              <a:latin typeface="Calibri"/>
              <a:ea typeface="Calibri"/>
              <a:cs typeface="Calibri"/>
              <a:sym typeface="Calibri"/>
            </a:endParaRPr>
          </a:p>
          <a:p>
            <a:pPr indent="0" lvl="0" marL="0" rtl="0" algn="l">
              <a:spcBef>
                <a:spcPts val="0"/>
              </a:spcBef>
              <a:spcAft>
                <a:spcPts val="0"/>
              </a:spcAft>
              <a:buNone/>
            </a:pPr>
            <a:r>
              <a:t/>
            </a:r>
            <a:endParaRPr sz="2000">
              <a:solidFill>
                <a:srgbClr val="FFFFFF"/>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3" name="Shape 103"/>
        <p:cNvGrpSpPr/>
        <p:nvPr/>
      </p:nvGrpSpPr>
      <p:grpSpPr>
        <a:xfrm>
          <a:off x="0" y="0"/>
          <a:ext cx="0" cy="0"/>
          <a:chOff x="0" y="0"/>
          <a:chExt cx="0" cy="0"/>
        </a:xfrm>
      </p:grpSpPr>
      <p:sp>
        <p:nvSpPr>
          <p:cNvPr id="104" name="Google Shape;104;p18"/>
          <p:cNvSpPr txBox="1"/>
          <p:nvPr>
            <p:ph type="title"/>
          </p:nvPr>
        </p:nvSpPr>
        <p:spPr>
          <a:xfrm>
            <a:off x="-86850" y="68650"/>
            <a:ext cx="9341400" cy="572700"/>
          </a:xfrm>
          <a:prstGeom prst="rect">
            <a:avLst/>
          </a:prstGeom>
          <a:solidFill>
            <a:schemeClr val="accent3"/>
          </a:solidFill>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FFFFF"/>
                </a:solidFill>
                <a:latin typeface="Calibri"/>
                <a:ea typeface="Calibri"/>
                <a:cs typeface="Calibri"/>
                <a:sym typeface="Calibri"/>
              </a:rPr>
              <a:t>    3 Types of CRM Systems</a:t>
            </a:r>
            <a:endParaRPr>
              <a:solidFill>
                <a:srgbClr val="FFFFFF"/>
              </a:solidFill>
              <a:latin typeface="Calibri"/>
              <a:ea typeface="Calibri"/>
              <a:cs typeface="Calibri"/>
              <a:sym typeface="Calibri"/>
            </a:endParaRPr>
          </a:p>
        </p:txBody>
      </p:sp>
      <p:sp>
        <p:nvSpPr>
          <p:cNvPr id="105" name="Google Shape;105;p18"/>
          <p:cNvSpPr/>
          <p:nvPr/>
        </p:nvSpPr>
        <p:spPr>
          <a:xfrm>
            <a:off x="785370" y="1243425"/>
            <a:ext cx="1880100" cy="66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Open source</a:t>
            </a:r>
            <a:endParaRPr>
              <a:solidFill>
                <a:srgbClr val="434343"/>
              </a:solidFill>
              <a:latin typeface="Calibri"/>
              <a:ea typeface="Calibri"/>
              <a:cs typeface="Calibri"/>
              <a:sym typeface="Calibri"/>
            </a:endParaRPr>
          </a:p>
        </p:txBody>
      </p:sp>
      <p:sp>
        <p:nvSpPr>
          <p:cNvPr id="106" name="Google Shape;106;p18"/>
          <p:cNvSpPr/>
          <p:nvPr/>
        </p:nvSpPr>
        <p:spPr>
          <a:xfrm>
            <a:off x="3653438" y="1243425"/>
            <a:ext cx="1880100" cy="66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Freemium</a:t>
            </a:r>
            <a:endParaRPr>
              <a:solidFill>
                <a:srgbClr val="434343"/>
              </a:solidFill>
              <a:latin typeface="Calibri"/>
              <a:ea typeface="Calibri"/>
              <a:cs typeface="Calibri"/>
              <a:sym typeface="Calibri"/>
            </a:endParaRPr>
          </a:p>
        </p:txBody>
      </p:sp>
      <p:sp>
        <p:nvSpPr>
          <p:cNvPr id="107" name="Google Shape;107;p18"/>
          <p:cNvSpPr/>
          <p:nvPr/>
        </p:nvSpPr>
        <p:spPr>
          <a:xfrm>
            <a:off x="6521495" y="1243425"/>
            <a:ext cx="1880100" cy="66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licenced</a:t>
            </a:r>
            <a:endParaRPr>
              <a:solidFill>
                <a:srgbClr val="434343"/>
              </a:solidFill>
              <a:latin typeface="Calibri"/>
              <a:ea typeface="Calibri"/>
              <a:cs typeface="Calibri"/>
              <a:sym typeface="Calibri"/>
            </a:endParaRPr>
          </a:p>
        </p:txBody>
      </p:sp>
      <p:sp>
        <p:nvSpPr>
          <p:cNvPr id="108" name="Google Shape;108;p18"/>
          <p:cNvSpPr txBox="1"/>
          <p:nvPr/>
        </p:nvSpPr>
        <p:spPr>
          <a:xfrm>
            <a:off x="785375" y="2077425"/>
            <a:ext cx="1880100" cy="2052300"/>
          </a:xfrm>
          <a:prstGeom prst="rect">
            <a:avLst/>
          </a:prstGeom>
          <a:solidFill>
            <a:schemeClr val="accent3"/>
          </a:solidFill>
          <a:ln>
            <a:noFill/>
          </a:ln>
        </p:spPr>
        <p:txBody>
          <a:bodyPr anchorCtr="0" anchor="ctr" bIns="91425" lIns="91425" spcFirstLastPara="1" rIns="91425" wrap="square" tIns="91425">
            <a:noAutofit/>
          </a:bodyPr>
          <a:lstStyle/>
          <a:p>
            <a:pPr indent="-304800" lvl="0" marL="457200" rtl="0" algn="l">
              <a:lnSpc>
                <a:spcPct val="115000"/>
              </a:lnSpc>
              <a:spcBef>
                <a:spcPts val="0"/>
              </a:spcBef>
              <a:spcAft>
                <a:spcPts val="0"/>
              </a:spcAft>
              <a:buClr>
                <a:srgbClr val="FFFFFF"/>
              </a:buClr>
              <a:buSzPts val="1200"/>
              <a:buFont typeface="Calibri"/>
              <a:buChar char="-"/>
            </a:pPr>
            <a:r>
              <a:rPr lang="en-GB" sz="1200">
                <a:solidFill>
                  <a:srgbClr val="FFFFFF"/>
                </a:solidFill>
                <a:latin typeface="Calibri"/>
                <a:ea typeface="Calibri"/>
                <a:cs typeface="Calibri"/>
                <a:sym typeface="Calibri"/>
              </a:rPr>
              <a:t>Open source programs</a:t>
            </a:r>
            <a:endParaRPr sz="1200">
              <a:solidFill>
                <a:srgbClr val="FFFFFF"/>
              </a:solidFill>
              <a:latin typeface="Calibri"/>
              <a:ea typeface="Calibri"/>
              <a:cs typeface="Calibri"/>
              <a:sym typeface="Calibri"/>
            </a:endParaRPr>
          </a:p>
          <a:p>
            <a:pPr indent="-304800" lvl="0" marL="457200" rtl="0" algn="l">
              <a:lnSpc>
                <a:spcPct val="115000"/>
              </a:lnSpc>
              <a:spcBef>
                <a:spcPts val="0"/>
              </a:spcBef>
              <a:spcAft>
                <a:spcPts val="0"/>
              </a:spcAft>
              <a:buClr>
                <a:srgbClr val="FFFFFF"/>
              </a:buClr>
              <a:buSzPts val="1200"/>
              <a:buFont typeface="Calibri"/>
              <a:buChar char="-"/>
            </a:pPr>
            <a:r>
              <a:rPr lang="en-GB" sz="1200">
                <a:solidFill>
                  <a:srgbClr val="FFFFFF"/>
                </a:solidFill>
                <a:latin typeface="Calibri"/>
                <a:ea typeface="Calibri"/>
                <a:cs typeface="Calibri"/>
                <a:sym typeface="Calibri"/>
              </a:rPr>
              <a:t>Source code available</a:t>
            </a:r>
            <a:endParaRPr sz="1200">
              <a:solidFill>
                <a:srgbClr val="FFFFFF"/>
              </a:solidFill>
              <a:latin typeface="Calibri"/>
              <a:ea typeface="Calibri"/>
              <a:cs typeface="Calibri"/>
              <a:sym typeface="Calibri"/>
            </a:endParaRPr>
          </a:p>
        </p:txBody>
      </p:sp>
      <p:cxnSp>
        <p:nvCxnSpPr>
          <p:cNvPr id="109" name="Google Shape;109;p18"/>
          <p:cNvCxnSpPr>
            <a:stCxn id="105" idx="3"/>
            <a:endCxn id="106" idx="1"/>
          </p:cNvCxnSpPr>
          <p:nvPr/>
        </p:nvCxnSpPr>
        <p:spPr>
          <a:xfrm>
            <a:off x="2665470" y="1573425"/>
            <a:ext cx="987900" cy="0"/>
          </a:xfrm>
          <a:prstGeom prst="straightConnector1">
            <a:avLst/>
          </a:prstGeom>
          <a:noFill/>
          <a:ln cap="flat" cmpd="sng" w="19050">
            <a:solidFill>
              <a:srgbClr val="434343"/>
            </a:solidFill>
            <a:prstDash val="lgDash"/>
            <a:round/>
            <a:headEnd len="med" w="med" type="none"/>
            <a:tailEnd len="med" w="med" type="oval"/>
          </a:ln>
        </p:spPr>
      </p:cxnSp>
      <p:cxnSp>
        <p:nvCxnSpPr>
          <p:cNvPr id="110" name="Google Shape;110;p18"/>
          <p:cNvCxnSpPr/>
          <p:nvPr/>
        </p:nvCxnSpPr>
        <p:spPr>
          <a:xfrm>
            <a:off x="5533545" y="1573425"/>
            <a:ext cx="987900" cy="0"/>
          </a:xfrm>
          <a:prstGeom prst="straightConnector1">
            <a:avLst/>
          </a:prstGeom>
          <a:noFill/>
          <a:ln cap="flat" cmpd="sng" w="19050">
            <a:solidFill>
              <a:srgbClr val="434343"/>
            </a:solidFill>
            <a:prstDash val="lgDash"/>
            <a:round/>
            <a:headEnd len="med" w="med" type="none"/>
            <a:tailEnd len="med" w="med" type="oval"/>
          </a:ln>
        </p:spPr>
      </p:cxnSp>
      <p:sp>
        <p:nvSpPr>
          <p:cNvPr id="111" name="Google Shape;111;p18"/>
          <p:cNvSpPr txBox="1"/>
          <p:nvPr/>
        </p:nvSpPr>
        <p:spPr>
          <a:xfrm>
            <a:off x="3653450" y="2077425"/>
            <a:ext cx="1880100" cy="2052300"/>
          </a:xfrm>
          <a:prstGeom prst="rect">
            <a:avLst/>
          </a:prstGeom>
          <a:solidFill>
            <a:schemeClr val="accent3"/>
          </a:solidFill>
          <a:ln>
            <a:noFill/>
          </a:ln>
        </p:spPr>
        <p:txBody>
          <a:bodyPr anchorCtr="0" anchor="ctr" bIns="91425" lIns="91425" spcFirstLastPara="1" rIns="91425" wrap="square" tIns="91425">
            <a:noAutofit/>
          </a:bodyPr>
          <a:lstStyle/>
          <a:p>
            <a:pPr indent="-304800" lvl="0" marL="457200" rtl="0" algn="l">
              <a:lnSpc>
                <a:spcPct val="115000"/>
              </a:lnSpc>
              <a:spcBef>
                <a:spcPts val="0"/>
              </a:spcBef>
              <a:spcAft>
                <a:spcPts val="0"/>
              </a:spcAft>
              <a:buClr>
                <a:srgbClr val="FFFFFF"/>
              </a:buClr>
              <a:buSzPts val="1200"/>
              <a:buFont typeface="Calibri"/>
              <a:buChar char="-"/>
            </a:pPr>
            <a:r>
              <a:rPr lang="en-GB" sz="1200">
                <a:solidFill>
                  <a:srgbClr val="FFFFFF"/>
                </a:solidFill>
                <a:latin typeface="Calibri"/>
                <a:ea typeface="Calibri"/>
                <a:cs typeface="Calibri"/>
                <a:sym typeface="Calibri"/>
              </a:rPr>
              <a:t>Free + Premium</a:t>
            </a:r>
            <a:endParaRPr sz="1200">
              <a:solidFill>
                <a:srgbClr val="FFFFFF"/>
              </a:solidFill>
              <a:latin typeface="Calibri"/>
              <a:ea typeface="Calibri"/>
              <a:cs typeface="Calibri"/>
              <a:sym typeface="Calibri"/>
            </a:endParaRPr>
          </a:p>
          <a:p>
            <a:pPr indent="-304800" lvl="0" marL="457200" rtl="0" algn="l">
              <a:lnSpc>
                <a:spcPct val="115000"/>
              </a:lnSpc>
              <a:spcBef>
                <a:spcPts val="0"/>
              </a:spcBef>
              <a:spcAft>
                <a:spcPts val="0"/>
              </a:spcAft>
              <a:buClr>
                <a:srgbClr val="FFFFFF"/>
              </a:buClr>
              <a:buSzPts val="1200"/>
              <a:buFont typeface="Calibri"/>
              <a:buChar char="-"/>
            </a:pPr>
            <a:r>
              <a:rPr lang="en-GB" sz="1200">
                <a:solidFill>
                  <a:srgbClr val="FFFFFF"/>
                </a:solidFill>
                <a:latin typeface="Calibri"/>
                <a:ea typeface="Calibri"/>
                <a:cs typeface="Calibri"/>
                <a:sym typeface="Calibri"/>
              </a:rPr>
              <a:t>Basic version of CRM is free</a:t>
            </a:r>
            <a:endParaRPr sz="1200">
              <a:solidFill>
                <a:srgbClr val="FFFFFF"/>
              </a:solidFill>
              <a:latin typeface="Calibri"/>
              <a:ea typeface="Calibri"/>
              <a:cs typeface="Calibri"/>
              <a:sym typeface="Calibri"/>
            </a:endParaRPr>
          </a:p>
          <a:p>
            <a:pPr indent="-304800" lvl="0" marL="457200" rtl="0" algn="l">
              <a:lnSpc>
                <a:spcPct val="115000"/>
              </a:lnSpc>
              <a:spcBef>
                <a:spcPts val="0"/>
              </a:spcBef>
              <a:spcAft>
                <a:spcPts val="0"/>
              </a:spcAft>
              <a:buClr>
                <a:srgbClr val="FFFFFF"/>
              </a:buClr>
              <a:buSzPts val="1200"/>
              <a:buFont typeface="Calibri"/>
              <a:buChar char="-"/>
            </a:pPr>
            <a:r>
              <a:rPr lang="en-GB" sz="1200">
                <a:solidFill>
                  <a:srgbClr val="FFFFFF"/>
                </a:solidFill>
                <a:latin typeface="Calibri"/>
                <a:ea typeface="Calibri"/>
                <a:cs typeface="Calibri"/>
                <a:sym typeface="Calibri"/>
              </a:rPr>
              <a:t>Charges for additional functions</a:t>
            </a:r>
            <a:endParaRPr sz="1200">
              <a:solidFill>
                <a:srgbClr val="FFFFFF"/>
              </a:solidFill>
              <a:latin typeface="Calibri"/>
              <a:ea typeface="Calibri"/>
              <a:cs typeface="Calibri"/>
              <a:sym typeface="Calibri"/>
            </a:endParaRPr>
          </a:p>
        </p:txBody>
      </p:sp>
      <p:sp>
        <p:nvSpPr>
          <p:cNvPr id="112" name="Google Shape;112;p18"/>
          <p:cNvSpPr txBox="1"/>
          <p:nvPr/>
        </p:nvSpPr>
        <p:spPr>
          <a:xfrm>
            <a:off x="6521525" y="2077425"/>
            <a:ext cx="1880100" cy="2052300"/>
          </a:xfrm>
          <a:prstGeom prst="rect">
            <a:avLst/>
          </a:prstGeom>
          <a:solidFill>
            <a:schemeClr val="accent3"/>
          </a:solidFill>
          <a:ln>
            <a:noFill/>
          </a:ln>
        </p:spPr>
        <p:txBody>
          <a:bodyPr anchorCtr="0" anchor="ctr" bIns="91425" lIns="91425" spcFirstLastPara="1" rIns="91425" wrap="square" tIns="91425">
            <a:noAutofit/>
          </a:bodyPr>
          <a:lstStyle/>
          <a:p>
            <a:pPr indent="-304800" lvl="0" marL="457200" rtl="0" algn="l">
              <a:lnSpc>
                <a:spcPct val="115000"/>
              </a:lnSpc>
              <a:spcBef>
                <a:spcPts val="0"/>
              </a:spcBef>
              <a:spcAft>
                <a:spcPts val="0"/>
              </a:spcAft>
              <a:buClr>
                <a:srgbClr val="FFFFFF"/>
              </a:buClr>
              <a:buSzPts val="1200"/>
              <a:buFont typeface="Calibri"/>
              <a:buChar char="-"/>
            </a:pPr>
            <a:r>
              <a:rPr lang="en-GB" sz="1200">
                <a:solidFill>
                  <a:srgbClr val="FFFFFF"/>
                </a:solidFill>
                <a:latin typeface="Calibri"/>
                <a:ea typeface="Calibri"/>
                <a:cs typeface="Calibri"/>
                <a:sym typeface="Calibri"/>
              </a:rPr>
              <a:t>Proprietary software</a:t>
            </a:r>
            <a:endParaRPr sz="1200">
              <a:solidFill>
                <a:srgbClr val="FFFFFF"/>
              </a:solidFill>
              <a:latin typeface="Calibri"/>
              <a:ea typeface="Calibri"/>
              <a:cs typeface="Calibri"/>
              <a:sym typeface="Calibri"/>
            </a:endParaRPr>
          </a:p>
          <a:p>
            <a:pPr indent="-304800" lvl="0" marL="457200" rtl="0" algn="l">
              <a:lnSpc>
                <a:spcPct val="150000"/>
              </a:lnSpc>
              <a:spcBef>
                <a:spcPts val="0"/>
              </a:spcBef>
              <a:spcAft>
                <a:spcPts val="0"/>
              </a:spcAft>
              <a:buClr>
                <a:srgbClr val="FFFFFF"/>
              </a:buClr>
              <a:buSzPts val="1200"/>
              <a:buFont typeface="Calibri"/>
              <a:buChar char="-"/>
            </a:pPr>
            <a:r>
              <a:rPr lang="en-GB" sz="1200">
                <a:solidFill>
                  <a:srgbClr val="FFFFFF"/>
                </a:solidFill>
                <a:latin typeface="Calibri"/>
                <a:ea typeface="Calibri"/>
                <a:cs typeface="Calibri"/>
                <a:sym typeface="Calibri"/>
              </a:rPr>
              <a:t>License agreement</a:t>
            </a:r>
            <a:endParaRPr sz="1200">
              <a:solidFill>
                <a:srgbClr val="FFFFFF"/>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6" name="Shape 116"/>
        <p:cNvGrpSpPr/>
        <p:nvPr/>
      </p:nvGrpSpPr>
      <p:grpSpPr>
        <a:xfrm>
          <a:off x="0" y="0"/>
          <a:ext cx="0" cy="0"/>
          <a:chOff x="0" y="0"/>
          <a:chExt cx="0" cy="0"/>
        </a:xfrm>
      </p:grpSpPr>
      <p:graphicFrame>
        <p:nvGraphicFramePr>
          <p:cNvPr id="117" name="Google Shape;117;p19"/>
          <p:cNvGraphicFramePr/>
          <p:nvPr/>
        </p:nvGraphicFramePr>
        <p:xfrm>
          <a:off x="629400" y="775650"/>
          <a:ext cx="3000000" cy="3000000"/>
        </p:xfrm>
        <a:graphic>
          <a:graphicData uri="http://schemas.openxmlformats.org/drawingml/2006/table">
            <a:tbl>
              <a:tblPr>
                <a:noFill/>
                <a:tableStyleId>{B641D22A-6812-496B-9EF9-B6DF2DE4AA8D}</a:tableStyleId>
              </a:tblPr>
              <a:tblGrid>
                <a:gridCol w="1230750"/>
                <a:gridCol w="2182875"/>
                <a:gridCol w="2182875"/>
                <a:gridCol w="2182875"/>
              </a:tblGrid>
              <a:tr h="1108075">
                <a:tc>
                  <a:txBody>
                    <a:bodyPr>
                      <a:noAutofit/>
                    </a:bodyPr>
                    <a:lstStyle/>
                    <a:p>
                      <a:pPr indent="0" lvl="0" marL="0" rtl="0" algn="ctr">
                        <a:spcBef>
                          <a:spcPts val="0"/>
                        </a:spcBef>
                        <a:spcAft>
                          <a:spcPts val="0"/>
                        </a:spcAft>
                        <a:buNone/>
                      </a:pPr>
                      <a:r>
                        <a:t/>
                      </a:r>
                      <a:endParaRPr>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t/>
                      </a:r>
                      <a:endParaRPr>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t/>
                      </a:r>
                      <a:endParaRPr>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t/>
                      </a:r>
                      <a:endParaRPr>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11000">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Type</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Open Source</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Freemium</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Licensed</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r>
              <a:tr h="480825">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Cost</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GB" sz="1800">
                          <a:solidFill>
                            <a:srgbClr val="434343"/>
                          </a:solidFill>
                          <a:latin typeface="Calibri"/>
                          <a:ea typeface="Calibri"/>
                          <a:cs typeface="Calibri"/>
                          <a:sym typeface="Calibri"/>
                        </a:rPr>
                        <a:t>Free</a:t>
                      </a:r>
                      <a:endParaRPr b="1" sz="1800">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GB" sz="1800">
                          <a:solidFill>
                            <a:srgbClr val="434343"/>
                          </a:solidFill>
                          <a:latin typeface="Calibri"/>
                          <a:ea typeface="Calibri"/>
                          <a:cs typeface="Calibri"/>
                          <a:sym typeface="Calibri"/>
                        </a:rPr>
                        <a:t>$39</a:t>
                      </a:r>
                      <a:r>
                        <a:rPr lang="en-GB" sz="1800">
                          <a:solidFill>
                            <a:srgbClr val="434343"/>
                          </a:solidFill>
                          <a:latin typeface="Calibri"/>
                          <a:ea typeface="Calibri"/>
                          <a:cs typeface="Calibri"/>
                          <a:sym typeface="Calibri"/>
                        </a:rPr>
                        <a:t>/Month</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GB" sz="1800">
                          <a:solidFill>
                            <a:srgbClr val="434343"/>
                          </a:solidFill>
                          <a:latin typeface="Calibri"/>
                          <a:ea typeface="Calibri"/>
                          <a:cs typeface="Calibri"/>
                          <a:sym typeface="Calibri"/>
                        </a:rPr>
                        <a:t>$242</a:t>
                      </a:r>
                      <a:r>
                        <a:rPr lang="en-GB" sz="1800">
                          <a:solidFill>
                            <a:srgbClr val="434343"/>
                          </a:solidFill>
                          <a:latin typeface="Calibri"/>
                          <a:ea typeface="Calibri"/>
                          <a:cs typeface="Calibri"/>
                          <a:sym typeface="Calibri"/>
                        </a:rPr>
                        <a:t>/Month</a:t>
                      </a:r>
                      <a:endParaRPr sz="1800">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517850">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Access to source</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c>
                  <a:txBody>
                    <a:bodyPr>
                      <a:noAutofit/>
                    </a:bodyPr>
                    <a:lstStyle/>
                    <a:p>
                      <a:pPr indent="0" lvl="0" marL="0" rtl="0" algn="ctr">
                        <a:spcBef>
                          <a:spcPts val="0"/>
                        </a:spcBef>
                        <a:spcAft>
                          <a:spcPts val="0"/>
                        </a:spcAft>
                        <a:buNone/>
                      </a:pPr>
                      <a:r>
                        <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c>
                  <a:txBody>
                    <a:bodyPr>
                      <a:noAutofit/>
                    </a:bodyPr>
                    <a:lstStyle/>
                    <a:p>
                      <a:pPr indent="0" lvl="0" marL="0" rtl="0" algn="ctr">
                        <a:spcBef>
                          <a:spcPts val="0"/>
                        </a:spcBef>
                        <a:spcAft>
                          <a:spcPts val="0"/>
                        </a:spcAft>
                        <a:buNone/>
                      </a:pPr>
                      <a:r>
                        <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c>
                  <a:txBody>
                    <a:bodyPr>
                      <a:noAutofit/>
                    </a:bodyPr>
                    <a:lstStyle/>
                    <a:p>
                      <a:pPr indent="0" lvl="0" marL="0" rtl="0" algn="ctr">
                        <a:spcBef>
                          <a:spcPts val="0"/>
                        </a:spcBef>
                        <a:spcAft>
                          <a:spcPts val="0"/>
                        </a:spcAft>
                        <a:buNone/>
                      </a:pPr>
                      <a:r>
                        <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r>
              <a:tr h="411000">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Users</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Unlimited</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5</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Clr>
                          <a:schemeClr val="dk1"/>
                        </a:buClr>
                        <a:buSzPts val="1100"/>
                        <a:buFont typeface="Arial"/>
                        <a:buNone/>
                      </a:pPr>
                      <a:r>
                        <a:rPr lang="en-GB">
                          <a:solidFill>
                            <a:srgbClr val="434343"/>
                          </a:solidFill>
                          <a:latin typeface="Calibri"/>
                          <a:ea typeface="Calibri"/>
                          <a:cs typeface="Calibri"/>
                          <a:sym typeface="Calibri"/>
                        </a:rPr>
                        <a:t>Unlimited</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15000">
                <a:tc>
                  <a:txBody>
                    <a:bodyPr>
                      <a:noAutofit/>
                    </a:bodyPr>
                    <a:lstStyle/>
                    <a:p>
                      <a:pPr indent="0" lvl="0" marL="0" rtl="0" algn="ctr">
                        <a:spcBef>
                          <a:spcPts val="0"/>
                        </a:spcBef>
                        <a:spcAft>
                          <a:spcPts val="0"/>
                        </a:spcAft>
                        <a:buNone/>
                      </a:pPr>
                      <a:r>
                        <a:rPr lang="en-GB" sz="1000">
                          <a:solidFill>
                            <a:srgbClr val="434343"/>
                          </a:solidFill>
                          <a:latin typeface="Calibri"/>
                          <a:ea typeface="Calibri"/>
                          <a:cs typeface="Calibri"/>
                          <a:sym typeface="Calibri"/>
                        </a:rPr>
                        <a:t>Technique Required</a:t>
                      </a:r>
                      <a:r>
                        <a:rPr lang="en-GB" sz="1000">
                          <a:solidFill>
                            <a:srgbClr val="434343"/>
                          </a:solidFill>
                          <a:latin typeface="Calibri"/>
                          <a:ea typeface="Calibri"/>
                          <a:cs typeface="Calibri"/>
                          <a:sym typeface="Calibri"/>
                        </a:rPr>
                        <a:t> </a:t>
                      </a:r>
                      <a:endParaRPr sz="1000">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c>
                  <a:txBody>
                    <a:bodyPr>
                      <a:noAutofit/>
                    </a:bodyPr>
                    <a:lstStyle/>
                    <a:p>
                      <a:pPr indent="0" lvl="0" marL="0" rtl="0" algn="l">
                        <a:spcBef>
                          <a:spcPts val="0"/>
                        </a:spcBef>
                        <a:spcAft>
                          <a:spcPts val="0"/>
                        </a:spcAft>
                        <a:buNone/>
                      </a:pPr>
                      <a:r>
                        <a:rPr lang="en-GB">
                          <a:solidFill>
                            <a:srgbClr val="434343"/>
                          </a:solidFill>
                          <a:latin typeface="Calibri"/>
                          <a:ea typeface="Calibri"/>
                          <a:cs typeface="Calibri"/>
                          <a:sym typeface="Calibri"/>
                        </a:rPr>
                        <a:t>($1500 for support)</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c>
                  <a:txBody>
                    <a:bodyPr>
                      <a:noAutofit/>
                    </a:bodyPr>
                    <a:lstStyle/>
                    <a:p>
                      <a:pPr indent="0" lvl="0" marL="0" rtl="0" algn="ctr">
                        <a:spcBef>
                          <a:spcPts val="0"/>
                        </a:spcBef>
                        <a:spcAft>
                          <a:spcPts val="0"/>
                        </a:spcAft>
                        <a:buNone/>
                      </a:pPr>
                      <a:r>
                        <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c>
                  <a:txBody>
                    <a:bodyPr>
                      <a:noAutofit/>
                    </a:bodyPr>
                    <a:lstStyle/>
                    <a:p>
                      <a:pPr indent="0" lvl="0" marL="0" rtl="0" algn="ctr">
                        <a:spcBef>
                          <a:spcPts val="0"/>
                        </a:spcBef>
                        <a:spcAft>
                          <a:spcPts val="0"/>
                        </a:spcAft>
                        <a:buNone/>
                      </a:pPr>
                      <a:r>
                        <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r>
              <a:tr h="415000">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Cloud</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pic>
        <p:nvPicPr>
          <p:cNvPr id="118" name="Google Shape;118;p19"/>
          <p:cNvPicPr preferRelativeResize="0"/>
          <p:nvPr/>
        </p:nvPicPr>
        <p:blipFill>
          <a:blip r:embed="rId3">
            <a:alphaModFix/>
          </a:blip>
          <a:stretch>
            <a:fillRect/>
          </a:stretch>
        </p:blipFill>
        <p:spPr>
          <a:xfrm>
            <a:off x="1946900" y="1048388"/>
            <a:ext cx="1850900" cy="472825"/>
          </a:xfrm>
          <a:prstGeom prst="rect">
            <a:avLst/>
          </a:prstGeom>
          <a:noFill/>
          <a:ln>
            <a:noFill/>
          </a:ln>
        </p:spPr>
      </p:pic>
      <p:pic>
        <p:nvPicPr>
          <p:cNvPr id="119" name="Google Shape;119;p19"/>
          <p:cNvPicPr preferRelativeResize="0"/>
          <p:nvPr/>
        </p:nvPicPr>
        <p:blipFill>
          <a:blip r:embed="rId4">
            <a:alphaModFix/>
          </a:blip>
          <a:stretch>
            <a:fillRect/>
          </a:stretch>
        </p:blipFill>
        <p:spPr>
          <a:xfrm>
            <a:off x="4243488" y="808392"/>
            <a:ext cx="1693925" cy="952833"/>
          </a:xfrm>
          <a:prstGeom prst="rect">
            <a:avLst/>
          </a:prstGeom>
          <a:noFill/>
          <a:ln>
            <a:noFill/>
          </a:ln>
        </p:spPr>
      </p:pic>
      <p:pic>
        <p:nvPicPr>
          <p:cNvPr id="120" name="Google Shape;120;p19"/>
          <p:cNvPicPr preferRelativeResize="0"/>
          <p:nvPr/>
        </p:nvPicPr>
        <p:blipFill>
          <a:blip r:embed="rId5">
            <a:alphaModFix/>
          </a:blip>
          <a:stretch>
            <a:fillRect/>
          </a:stretch>
        </p:blipFill>
        <p:spPr>
          <a:xfrm>
            <a:off x="6267925" y="1018675"/>
            <a:ext cx="2121750" cy="532275"/>
          </a:xfrm>
          <a:prstGeom prst="rect">
            <a:avLst/>
          </a:prstGeom>
          <a:noFill/>
          <a:ln>
            <a:noFill/>
          </a:ln>
        </p:spPr>
      </p:pic>
      <p:sp>
        <p:nvSpPr>
          <p:cNvPr id="121" name="Google Shape;121;p19"/>
          <p:cNvSpPr txBox="1"/>
          <p:nvPr>
            <p:ph type="title"/>
          </p:nvPr>
        </p:nvSpPr>
        <p:spPr>
          <a:xfrm>
            <a:off x="-86850" y="68650"/>
            <a:ext cx="9341400" cy="572700"/>
          </a:xfrm>
          <a:prstGeom prst="rect">
            <a:avLst/>
          </a:prstGeom>
          <a:solidFill>
            <a:schemeClr val="accent3"/>
          </a:solidFill>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FFFFF"/>
                </a:solidFill>
                <a:latin typeface="Calibri"/>
                <a:ea typeface="Calibri"/>
                <a:cs typeface="Calibri"/>
                <a:sym typeface="Calibri"/>
              </a:rPr>
              <a:t>    3 Types of CRM Systems-Characteristics</a:t>
            </a:r>
            <a:endParaRPr>
              <a:solidFill>
                <a:srgbClr val="FFFFFF"/>
              </a:solidFill>
              <a:latin typeface="Calibri"/>
              <a:ea typeface="Calibri"/>
              <a:cs typeface="Calibri"/>
              <a:sym typeface="Calibri"/>
            </a:endParaRPr>
          </a:p>
        </p:txBody>
      </p:sp>
      <p:pic>
        <p:nvPicPr>
          <p:cNvPr id="122" name="Google Shape;122;p19"/>
          <p:cNvPicPr preferRelativeResize="0"/>
          <p:nvPr/>
        </p:nvPicPr>
        <p:blipFill>
          <a:blip r:embed="rId6">
            <a:alphaModFix/>
          </a:blip>
          <a:stretch>
            <a:fillRect/>
          </a:stretch>
        </p:blipFill>
        <p:spPr>
          <a:xfrm>
            <a:off x="3459025" y="3886175"/>
            <a:ext cx="252000" cy="252000"/>
          </a:xfrm>
          <a:prstGeom prst="rect">
            <a:avLst/>
          </a:prstGeom>
          <a:noFill/>
          <a:ln>
            <a:noFill/>
          </a:ln>
        </p:spPr>
      </p:pic>
      <p:pic>
        <p:nvPicPr>
          <p:cNvPr id="123" name="Google Shape;123;p19"/>
          <p:cNvPicPr preferRelativeResize="0"/>
          <p:nvPr/>
        </p:nvPicPr>
        <p:blipFill>
          <a:blip r:embed="rId7">
            <a:alphaModFix/>
          </a:blip>
          <a:stretch>
            <a:fillRect/>
          </a:stretch>
        </p:blipFill>
        <p:spPr>
          <a:xfrm>
            <a:off x="4922630" y="3779500"/>
            <a:ext cx="360000" cy="360000"/>
          </a:xfrm>
          <a:prstGeom prst="rect">
            <a:avLst/>
          </a:prstGeom>
          <a:noFill/>
          <a:ln>
            <a:noFill/>
          </a:ln>
        </p:spPr>
      </p:pic>
      <p:pic>
        <p:nvPicPr>
          <p:cNvPr id="124" name="Google Shape;124;p19"/>
          <p:cNvPicPr preferRelativeResize="0"/>
          <p:nvPr/>
        </p:nvPicPr>
        <p:blipFill>
          <a:blip r:embed="rId8">
            <a:alphaModFix/>
          </a:blip>
          <a:stretch>
            <a:fillRect/>
          </a:stretch>
        </p:blipFill>
        <p:spPr>
          <a:xfrm>
            <a:off x="7180600" y="3837600"/>
            <a:ext cx="288000" cy="288000"/>
          </a:xfrm>
          <a:prstGeom prst="rect">
            <a:avLst/>
          </a:prstGeom>
          <a:noFill/>
          <a:ln>
            <a:noFill/>
          </a:ln>
        </p:spPr>
      </p:pic>
      <p:pic>
        <p:nvPicPr>
          <p:cNvPr id="125" name="Google Shape;125;p19"/>
          <p:cNvPicPr preferRelativeResize="0"/>
          <p:nvPr/>
        </p:nvPicPr>
        <p:blipFill>
          <a:blip r:embed="rId6">
            <a:alphaModFix/>
          </a:blip>
          <a:stretch>
            <a:fillRect/>
          </a:stretch>
        </p:blipFill>
        <p:spPr>
          <a:xfrm>
            <a:off x="2758549" y="4279687"/>
            <a:ext cx="252000" cy="252000"/>
          </a:xfrm>
          <a:prstGeom prst="rect">
            <a:avLst/>
          </a:prstGeom>
          <a:noFill/>
          <a:ln>
            <a:noFill/>
          </a:ln>
        </p:spPr>
      </p:pic>
      <p:pic>
        <p:nvPicPr>
          <p:cNvPr id="126" name="Google Shape;126;p19"/>
          <p:cNvPicPr preferRelativeResize="0"/>
          <p:nvPr/>
        </p:nvPicPr>
        <p:blipFill>
          <a:blip r:embed="rId6">
            <a:alphaModFix/>
          </a:blip>
          <a:stretch>
            <a:fillRect/>
          </a:stretch>
        </p:blipFill>
        <p:spPr>
          <a:xfrm>
            <a:off x="4976637" y="4276952"/>
            <a:ext cx="252000" cy="252000"/>
          </a:xfrm>
          <a:prstGeom prst="rect">
            <a:avLst/>
          </a:prstGeom>
          <a:noFill/>
          <a:ln>
            <a:noFill/>
          </a:ln>
        </p:spPr>
      </p:pic>
      <p:pic>
        <p:nvPicPr>
          <p:cNvPr id="127" name="Google Shape;127;p19"/>
          <p:cNvPicPr preferRelativeResize="0"/>
          <p:nvPr/>
        </p:nvPicPr>
        <p:blipFill>
          <a:blip r:embed="rId6">
            <a:alphaModFix/>
          </a:blip>
          <a:stretch>
            <a:fillRect/>
          </a:stretch>
        </p:blipFill>
        <p:spPr>
          <a:xfrm>
            <a:off x="7194724" y="4279687"/>
            <a:ext cx="252000" cy="252000"/>
          </a:xfrm>
          <a:prstGeom prst="rect">
            <a:avLst/>
          </a:prstGeom>
          <a:noFill/>
          <a:ln>
            <a:noFill/>
          </a:ln>
        </p:spPr>
      </p:pic>
      <p:pic>
        <p:nvPicPr>
          <p:cNvPr id="128" name="Google Shape;128;p19"/>
          <p:cNvPicPr preferRelativeResize="0"/>
          <p:nvPr/>
        </p:nvPicPr>
        <p:blipFill>
          <a:blip r:embed="rId6">
            <a:alphaModFix/>
          </a:blip>
          <a:stretch>
            <a:fillRect/>
          </a:stretch>
        </p:blipFill>
        <p:spPr>
          <a:xfrm>
            <a:off x="2770725" y="2953838"/>
            <a:ext cx="252000" cy="252000"/>
          </a:xfrm>
          <a:prstGeom prst="rect">
            <a:avLst/>
          </a:prstGeom>
          <a:noFill/>
          <a:ln>
            <a:noFill/>
          </a:ln>
        </p:spPr>
      </p:pic>
      <p:pic>
        <p:nvPicPr>
          <p:cNvPr id="129" name="Google Shape;129;p19"/>
          <p:cNvPicPr preferRelativeResize="0"/>
          <p:nvPr/>
        </p:nvPicPr>
        <p:blipFill>
          <a:blip r:embed="rId7">
            <a:alphaModFix/>
          </a:blip>
          <a:stretch>
            <a:fillRect/>
          </a:stretch>
        </p:blipFill>
        <p:spPr>
          <a:xfrm>
            <a:off x="4922630" y="2899850"/>
            <a:ext cx="360000" cy="360000"/>
          </a:xfrm>
          <a:prstGeom prst="rect">
            <a:avLst/>
          </a:prstGeom>
          <a:noFill/>
          <a:ln>
            <a:noFill/>
          </a:ln>
        </p:spPr>
      </p:pic>
      <p:pic>
        <p:nvPicPr>
          <p:cNvPr id="130" name="Google Shape;130;p19"/>
          <p:cNvPicPr preferRelativeResize="0"/>
          <p:nvPr/>
        </p:nvPicPr>
        <p:blipFill>
          <a:blip r:embed="rId8">
            <a:alphaModFix/>
          </a:blip>
          <a:stretch>
            <a:fillRect/>
          </a:stretch>
        </p:blipFill>
        <p:spPr>
          <a:xfrm>
            <a:off x="7182525" y="2935850"/>
            <a:ext cx="288000" cy="288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4" name="Shape 134"/>
        <p:cNvGrpSpPr/>
        <p:nvPr/>
      </p:nvGrpSpPr>
      <p:grpSpPr>
        <a:xfrm>
          <a:off x="0" y="0"/>
          <a:ext cx="0" cy="0"/>
          <a:chOff x="0" y="0"/>
          <a:chExt cx="0" cy="0"/>
        </a:xfrm>
      </p:grpSpPr>
      <p:pic>
        <p:nvPicPr>
          <p:cNvPr id="135" name="Google Shape;135;p20"/>
          <p:cNvPicPr preferRelativeResize="0"/>
          <p:nvPr/>
        </p:nvPicPr>
        <p:blipFill>
          <a:blip r:embed="rId3">
            <a:alphaModFix/>
          </a:blip>
          <a:stretch>
            <a:fillRect/>
          </a:stretch>
        </p:blipFill>
        <p:spPr>
          <a:xfrm>
            <a:off x="0" y="711362"/>
            <a:ext cx="10661525" cy="5177976"/>
          </a:xfrm>
          <a:prstGeom prst="rect">
            <a:avLst/>
          </a:prstGeom>
          <a:noFill/>
          <a:ln>
            <a:noFill/>
          </a:ln>
        </p:spPr>
      </p:pic>
      <p:sp>
        <p:nvSpPr>
          <p:cNvPr id="136" name="Google Shape;136;p20"/>
          <p:cNvSpPr txBox="1"/>
          <p:nvPr>
            <p:ph type="title"/>
          </p:nvPr>
        </p:nvSpPr>
        <p:spPr>
          <a:xfrm>
            <a:off x="-86850" y="68650"/>
            <a:ext cx="9341400" cy="572700"/>
          </a:xfrm>
          <a:prstGeom prst="rect">
            <a:avLst/>
          </a:prstGeom>
          <a:solidFill>
            <a:schemeClr val="accent3"/>
          </a:solidFill>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FFFFF"/>
                </a:solidFill>
                <a:latin typeface="Calibri"/>
                <a:ea typeface="Calibri"/>
                <a:cs typeface="Calibri"/>
                <a:sym typeface="Calibri"/>
              </a:rPr>
              <a:t>   SuiteCRM </a:t>
            </a:r>
            <a:endParaRPr>
              <a:solidFill>
                <a:srgbClr val="FFFFFF"/>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0" name="Shape 140"/>
        <p:cNvGrpSpPr/>
        <p:nvPr/>
      </p:nvGrpSpPr>
      <p:grpSpPr>
        <a:xfrm>
          <a:off x="0" y="0"/>
          <a:ext cx="0" cy="0"/>
          <a:chOff x="0" y="0"/>
          <a:chExt cx="0" cy="0"/>
        </a:xfrm>
      </p:grpSpPr>
      <p:sp>
        <p:nvSpPr>
          <p:cNvPr id="141" name="Google Shape;141;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42" name="Google Shape;142;p21"/>
          <p:cNvPicPr preferRelativeResize="0"/>
          <p:nvPr/>
        </p:nvPicPr>
        <p:blipFill>
          <a:blip r:embed="rId3">
            <a:alphaModFix/>
          </a:blip>
          <a:stretch>
            <a:fillRect/>
          </a:stretch>
        </p:blipFill>
        <p:spPr>
          <a:xfrm>
            <a:off x="-2" y="723725"/>
            <a:ext cx="8963204" cy="5143500"/>
          </a:xfrm>
          <a:prstGeom prst="rect">
            <a:avLst/>
          </a:prstGeom>
          <a:noFill/>
          <a:ln>
            <a:noFill/>
          </a:ln>
        </p:spPr>
      </p:pic>
      <p:sp>
        <p:nvSpPr>
          <p:cNvPr id="143" name="Google Shape;143;p21"/>
          <p:cNvSpPr txBox="1"/>
          <p:nvPr>
            <p:ph type="title"/>
          </p:nvPr>
        </p:nvSpPr>
        <p:spPr>
          <a:xfrm>
            <a:off x="-86850" y="68650"/>
            <a:ext cx="9341400" cy="572700"/>
          </a:xfrm>
          <a:prstGeom prst="rect">
            <a:avLst/>
          </a:prstGeom>
          <a:solidFill>
            <a:schemeClr val="accent3"/>
          </a:solidFill>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FFFFF"/>
                </a:solidFill>
                <a:latin typeface="Calibri"/>
                <a:ea typeface="Calibri"/>
                <a:cs typeface="Calibri"/>
                <a:sym typeface="Calibri"/>
              </a:rPr>
              <a:t>    Bitrix24 </a:t>
            </a:r>
            <a:endParaRPr>
              <a:solidFill>
                <a:srgbClr val="FFFFFF"/>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7" name="Shape 147"/>
        <p:cNvGrpSpPr/>
        <p:nvPr/>
      </p:nvGrpSpPr>
      <p:grpSpPr>
        <a:xfrm>
          <a:off x="0" y="0"/>
          <a:ext cx="0" cy="0"/>
          <a:chOff x="0" y="0"/>
          <a:chExt cx="0" cy="0"/>
        </a:xfrm>
      </p:grpSpPr>
      <p:sp>
        <p:nvSpPr>
          <p:cNvPr id="148" name="Google Shape;148;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49" name="Google Shape;149;p22"/>
          <p:cNvPicPr preferRelativeResize="0"/>
          <p:nvPr/>
        </p:nvPicPr>
        <p:blipFill>
          <a:blip r:embed="rId3">
            <a:alphaModFix/>
          </a:blip>
          <a:stretch>
            <a:fillRect/>
          </a:stretch>
        </p:blipFill>
        <p:spPr>
          <a:xfrm>
            <a:off x="8" y="638150"/>
            <a:ext cx="9143976" cy="5143500"/>
          </a:xfrm>
          <a:prstGeom prst="rect">
            <a:avLst/>
          </a:prstGeom>
          <a:noFill/>
          <a:ln>
            <a:noFill/>
          </a:ln>
        </p:spPr>
      </p:pic>
      <p:sp>
        <p:nvSpPr>
          <p:cNvPr id="150" name="Google Shape;150;p22"/>
          <p:cNvSpPr txBox="1"/>
          <p:nvPr>
            <p:ph type="title"/>
          </p:nvPr>
        </p:nvSpPr>
        <p:spPr>
          <a:xfrm>
            <a:off x="-86850" y="68650"/>
            <a:ext cx="9341400" cy="572700"/>
          </a:xfrm>
          <a:prstGeom prst="rect">
            <a:avLst/>
          </a:prstGeom>
          <a:solidFill>
            <a:schemeClr val="accent3"/>
          </a:solidFill>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FFFFF"/>
                </a:solidFill>
                <a:latin typeface="Calibri"/>
                <a:ea typeface="Calibri"/>
                <a:cs typeface="Calibri"/>
                <a:sym typeface="Calibri"/>
              </a:rPr>
              <a:t>    Microsoft Dynamics CRM </a:t>
            </a:r>
            <a:endParaRPr>
              <a:solidFill>
                <a:srgbClr val="FFFFFF"/>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4" name="Shape 154"/>
        <p:cNvGrpSpPr/>
        <p:nvPr/>
      </p:nvGrpSpPr>
      <p:grpSpPr>
        <a:xfrm>
          <a:off x="0" y="0"/>
          <a:ext cx="0" cy="0"/>
          <a:chOff x="0" y="0"/>
          <a:chExt cx="0" cy="0"/>
        </a:xfrm>
      </p:grpSpPr>
      <p:graphicFrame>
        <p:nvGraphicFramePr>
          <p:cNvPr id="155" name="Google Shape;155;p23"/>
          <p:cNvGraphicFramePr/>
          <p:nvPr/>
        </p:nvGraphicFramePr>
        <p:xfrm>
          <a:off x="629400" y="851850"/>
          <a:ext cx="3000000" cy="3000000"/>
        </p:xfrm>
        <a:graphic>
          <a:graphicData uri="http://schemas.openxmlformats.org/drawingml/2006/table">
            <a:tbl>
              <a:tblPr>
                <a:noFill/>
                <a:tableStyleId>{B641D22A-6812-496B-9EF9-B6DF2DE4AA8D}</a:tableStyleId>
              </a:tblPr>
              <a:tblGrid>
                <a:gridCol w="1230750"/>
                <a:gridCol w="2182875"/>
                <a:gridCol w="2182875"/>
                <a:gridCol w="2182875"/>
              </a:tblGrid>
              <a:tr h="1057925">
                <a:tc>
                  <a:txBody>
                    <a:bodyPr>
                      <a:noAutofit/>
                    </a:bodyPr>
                    <a:lstStyle/>
                    <a:p>
                      <a:pPr indent="0" lvl="0" marL="0" rtl="0" algn="ctr">
                        <a:spcBef>
                          <a:spcPts val="0"/>
                        </a:spcBef>
                        <a:spcAft>
                          <a:spcPts val="0"/>
                        </a:spcAft>
                        <a:buNone/>
                      </a:pPr>
                      <a:r>
                        <a:t/>
                      </a:r>
                      <a:endParaRPr>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t/>
                      </a:r>
                      <a:endParaRPr>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t/>
                      </a:r>
                      <a:endParaRPr>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t/>
                      </a:r>
                      <a:endParaRPr>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Type</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Open Source</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Freemium</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Licensed</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r>
              <a:tr h="381000">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Cost/person</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GB" sz="1800">
                          <a:solidFill>
                            <a:srgbClr val="434343"/>
                          </a:solidFill>
                          <a:latin typeface="Calibri"/>
                          <a:ea typeface="Calibri"/>
                          <a:cs typeface="Calibri"/>
                          <a:sym typeface="Calibri"/>
                        </a:rPr>
                        <a:t>Free</a:t>
                      </a:r>
                      <a:endParaRPr b="1" sz="1800">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GB" sz="1800">
                          <a:solidFill>
                            <a:srgbClr val="434343"/>
                          </a:solidFill>
                          <a:latin typeface="Calibri"/>
                          <a:ea typeface="Calibri"/>
                          <a:cs typeface="Calibri"/>
                          <a:sym typeface="Calibri"/>
                        </a:rPr>
                        <a:t>$39</a:t>
                      </a:r>
                      <a:r>
                        <a:rPr lang="en-GB" sz="1800">
                          <a:solidFill>
                            <a:srgbClr val="434343"/>
                          </a:solidFill>
                          <a:latin typeface="Calibri"/>
                          <a:ea typeface="Calibri"/>
                          <a:cs typeface="Calibri"/>
                          <a:sym typeface="Calibri"/>
                        </a:rPr>
                        <a:t>/</a:t>
                      </a:r>
                      <a:endParaRPr sz="1800">
                        <a:solidFill>
                          <a:srgbClr val="434343"/>
                        </a:solidFill>
                        <a:latin typeface="Calibri"/>
                        <a:ea typeface="Calibri"/>
                        <a:cs typeface="Calibri"/>
                        <a:sym typeface="Calibri"/>
                      </a:endParaRPr>
                    </a:p>
                    <a:p>
                      <a:pPr indent="0" lvl="0" marL="0" rtl="0" algn="ctr">
                        <a:spcBef>
                          <a:spcPts val="0"/>
                        </a:spcBef>
                        <a:spcAft>
                          <a:spcPts val="0"/>
                        </a:spcAft>
                        <a:buNone/>
                      </a:pPr>
                      <a:r>
                        <a:rPr lang="en-GB" sz="1800">
                          <a:solidFill>
                            <a:srgbClr val="434343"/>
                          </a:solidFill>
                          <a:latin typeface="Calibri"/>
                          <a:ea typeface="Calibri"/>
                          <a:cs typeface="Calibri"/>
                          <a:sym typeface="Calibri"/>
                        </a:rPr>
                        <a:t>Month </a:t>
                      </a:r>
                      <a:r>
                        <a:rPr b="1" lang="en-GB" sz="1800">
                          <a:solidFill>
                            <a:srgbClr val="434343"/>
                          </a:solidFill>
                          <a:latin typeface="Calibri"/>
                          <a:ea typeface="Calibri"/>
                          <a:cs typeface="Calibri"/>
                          <a:sym typeface="Calibri"/>
                        </a:rPr>
                        <a:t>per</a:t>
                      </a:r>
                      <a:r>
                        <a:rPr lang="en-GB" sz="1800">
                          <a:solidFill>
                            <a:srgbClr val="434343"/>
                          </a:solidFill>
                          <a:latin typeface="Calibri"/>
                          <a:ea typeface="Calibri"/>
                          <a:cs typeface="Calibri"/>
                          <a:sym typeface="Calibri"/>
                        </a:rPr>
                        <a:t> User</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GB" sz="1800">
                          <a:solidFill>
                            <a:srgbClr val="434343"/>
                          </a:solidFill>
                          <a:latin typeface="Calibri"/>
                          <a:ea typeface="Calibri"/>
                          <a:cs typeface="Calibri"/>
                          <a:sym typeface="Calibri"/>
                        </a:rPr>
                        <a:t>$242</a:t>
                      </a:r>
                      <a:r>
                        <a:rPr lang="en-GB" sz="1800">
                          <a:solidFill>
                            <a:srgbClr val="434343"/>
                          </a:solidFill>
                          <a:latin typeface="Calibri"/>
                          <a:ea typeface="Calibri"/>
                          <a:cs typeface="Calibri"/>
                          <a:sym typeface="Calibri"/>
                        </a:rPr>
                        <a:t>/</a:t>
                      </a:r>
                      <a:endParaRPr sz="1800">
                        <a:solidFill>
                          <a:srgbClr val="434343"/>
                        </a:solidFill>
                        <a:latin typeface="Calibri"/>
                        <a:ea typeface="Calibri"/>
                        <a:cs typeface="Calibri"/>
                        <a:sym typeface="Calibri"/>
                      </a:endParaRPr>
                    </a:p>
                    <a:p>
                      <a:pPr indent="0" lvl="0" marL="0" rtl="0" algn="ctr">
                        <a:spcBef>
                          <a:spcPts val="0"/>
                        </a:spcBef>
                        <a:spcAft>
                          <a:spcPts val="0"/>
                        </a:spcAft>
                        <a:buNone/>
                      </a:pPr>
                      <a:r>
                        <a:rPr lang="en-GB" sz="1800">
                          <a:solidFill>
                            <a:srgbClr val="434343"/>
                          </a:solidFill>
                          <a:latin typeface="Calibri"/>
                          <a:ea typeface="Calibri"/>
                          <a:cs typeface="Calibri"/>
                          <a:sym typeface="Calibri"/>
                        </a:rPr>
                        <a:t>M</a:t>
                      </a:r>
                      <a:r>
                        <a:rPr lang="en-GB" sz="1800">
                          <a:solidFill>
                            <a:srgbClr val="434343"/>
                          </a:solidFill>
                          <a:latin typeface="Calibri"/>
                          <a:ea typeface="Calibri"/>
                          <a:cs typeface="Calibri"/>
                          <a:sym typeface="Calibri"/>
                        </a:rPr>
                        <a:t>o</a:t>
                      </a:r>
                      <a:r>
                        <a:rPr lang="en-GB" sz="1800">
                          <a:solidFill>
                            <a:srgbClr val="434343"/>
                          </a:solidFill>
                          <a:latin typeface="Calibri"/>
                          <a:ea typeface="Calibri"/>
                          <a:cs typeface="Calibri"/>
                          <a:sym typeface="Calibri"/>
                        </a:rPr>
                        <a:t>nth </a:t>
                      </a:r>
                      <a:r>
                        <a:rPr b="1" lang="en-GB" sz="1800">
                          <a:solidFill>
                            <a:srgbClr val="434343"/>
                          </a:solidFill>
                          <a:latin typeface="Calibri"/>
                          <a:ea typeface="Calibri"/>
                          <a:cs typeface="Calibri"/>
                          <a:sym typeface="Calibri"/>
                        </a:rPr>
                        <a:t>per</a:t>
                      </a:r>
                      <a:r>
                        <a:rPr lang="en-GB" sz="1800">
                          <a:solidFill>
                            <a:srgbClr val="434343"/>
                          </a:solidFill>
                          <a:latin typeface="Calibri"/>
                          <a:ea typeface="Calibri"/>
                          <a:cs typeface="Calibri"/>
                          <a:sym typeface="Calibri"/>
                        </a:rPr>
                        <a:t> User</a:t>
                      </a:r>
                      <a:endParaRPr sz="1800">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Users</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Unlimited</a:t>
                      </a:r>
                      <a:endParaRPr b="1" sz="1800">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5</a:t>
                      </a:r>
                      <a:endParaRPr b="1" sz="1800">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c>
                  <a:txBody>
                    <a:bodyPr>
                      <a:noAutofit/>
                    </a:bodyPr>
                    <a:lstStyle/>
                    <a:p>
                      <a:pPr indent="0" lvl="0" marL="0" rtl="0" algn="ctr">
                        <a:spcBef>
                          <a:spcPts val="0"/>
                        </a:spcBef>
                        <a:spcAft>
                          <a:spcPts val="0"/>
                        </a:spcAft>
                        <a:buClr>
                          <a:schemeClr val="dk1"/>
                        </a:buClr>
                        <a:buSzPts val="1100"/>
                        <a:buFont typeface="Arial"/>
                        <a:buNone/>
                      </a:pPr>
                      <a:r>
                        <a:rPr lang="en-GB">
                          <a:solidFill>
                            <a:srgbClr val="434343"/>
                          </a:solidFill>
                          <a:latin typeface="Calibri"/>
                          <a:ea typeface="Calibri"/>
                          <a:cs typeface="Calibri"/>
                          <a:sym typeface="Calibri"/>
                        </a:rPr>
                        <a:t>Unlimited</a:t>
                      </a:r>
                      <a:endParaRPr b="1" sz="1800">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r>
              <a:tr h="381000">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Security</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Potential</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c>
                  <a:txBody>
                    <a:bodyPr>
                      <a:noAutofit/>
                    </a:bodyPr>
                    <a:lstStyle/>
                    <a:p>
                      <a:pPr indent="0" lvl="0" marL="0" rtl="0" algn="ctr">
                        <a:spcBef>
                          <a:spcPts val="0"/>
                        </a:spcBef>
                        <a:spcAft>
                          <a:spcPts val="0"/>
                        </a:spcAft>
                        <a:buNone/>
                      </a:pPr>
                      <a:r>
                        <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c>
                  <a:txBody>
                    <a:bodyPr>
                      <a:noAutofit/>
                    </a:bodyPr>
                    <a:lstStyle/>
                    <a:p>
                      <a:pPr indent="0" lvl="0" marL="0" rtl="0" algn="ctr">
                        <a:spcBef>
                          <a:spcPts val="0"/>
                        </a:spcBef>
                        <a:spcAft>
                          <a:spcPts val="0"/>
                        </a:spcAft>
                        <a:buNone/>
                      </a:pPr>
                      <a:r>
                        <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c>
                  <a:txBody>
                    <a:bodyPr>
                      <a:noAutofit/>
                    </a:bodyPr>
                    <a:lstStyle/>
                    <a:p>
                      <a:pPr indent="0" lvl="0" marL="0" rtl="0" algn="ctr">
                        <a:spcBef>
                          <a:spcPts val="0"/>
                        </a:spcBef>
                        <a:spcAft>
                          <a:spcPts val="0"/>
                        </a:spcAft>
                        <a:buNone/>
                      </a:pPr>
                      <a:r>
                        <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r>
              <a:tr h="381000">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Total Cost</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GB" sz="2400">
                          <a:solidFill>
                            <a:srgbClr val="434343"/>
                          </a:solidFill>
                          <a:latin typeface="Calibri"/>
                          <a:ea typeface="Calibri"/>
                          <a:cs typeface="Calibri"/>
                          <a:sym typeface="Calibri"/>
                        </a:rPr>
                        <a:t>Free</a:t>
                      </a:r>
                      <a:endParaRPr b="1" sz="2400">
                        <a:solidFill>
                          <a:srgbClr val="434343"/>
                        </a:solidFill>
                        <a:latin typeface="Calibri"/>
                        <a:ea typeface="Calibri"/>
                        <a:cs typeface="Calibri"/>
                        <a:sym typeface="Calibri"/>
                      </a:endParaRPr>
                    </a:p>
                    <a:p>
                      <a:pPr indent="0" lvl="0" marL="0" rtl="0" algn="ctr">
                        <a:spcBef>
                          <a:spcPts val="0"/>
                        </a:spcBef>
                        <a:spcAft>
                          <a:spcPts val="0"/>
                        </a:spcAft>
                        <a:buNone/>
                      </a:pPr>
                      <a:r>
                        <a:rPr lang="en-GB">
                          <a:solidFill>
                            <a:srgbClr val="434343"/>
                          </a:solidFill>
                          <a:latin typeface="Calibri"/>
                          <a:ea typeface="Calibri"/>
                          <a:cs typeface="Calibri"/>
                          <a:sym typeface="Calibri"/>
                        </a:rPr>
                        <a:t>($1500 if need support)</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GB" sz="2400">
                          <a:solidFill>
                            <a:srgbClr val="434343"/>
                          </a:solidFill>
                          <a:latin typeface="Calibri"/>
                          <a:ea typeface="Calibri"/>
                          <a:cs typeface="Calibri"/>
                          <a:sym typeface="Calibri"/>
                        </a:rPr>
                        <a:t>$1365</a:t>
                      </a:r>
                      <a:r>
                        <a:rPr lang="en-GB">
                          <a:solidFill>
                            <a:srgbClr val="434343"/>
                          </a:solidFill>
                          <a:latin typeface="Calibri"/>
                          <a:ea typeface="Calibri"/>
                          <a:cs typeface="Calibri"/>
                          <a:sym typeface="Calibri"/>
                        </a:rPr>
                        <a:t>/Month</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GB" sz="2400">
                          <a:solidFill>
                            <a:srgbClr val="434343"/>
                          </a:solidFill>
                          <a:latin typeface="Calibri"/>
                          <a:ea typeface="Calibri"/>
                          <a:cs typeface="Calibri"/>
                          <a:sym typeface="Calibri"/>
                        </a:rPr>
                        <a:t>$9680</a:t>
                      </a:r>
                      <a:r>
                        <a:rPr lang="en-GB">
                          <a:solidFill>
                            <a:srgbClr val="434343"/>
                          </a:solidFill>
                          <a:latin typeface="Calibri"/>
                          <a:ea typeface="Calibri"/>
                          <a:cs typeface="Calibri"/>
                          <a:sym typeface="Calibri"/>
                        </a:rPr>
                        <a:t>/Month </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pic>
        <p:nvPicPr>
          <p:cNvPr id="156" name="Google Shape;156;p23"/>
          <p:cNvPicPr preferRelativeResize="0"/>
          <p:nvPr/>
        </p:nvPicPr>
        <p:blipFill>
          <a:blip r:embed="rId3">
            <a:alphaModFix/>
          </a:blip>
          <a:stretch>
            <a:fillRect/>
          </a:stretch>
        </p:blipFill>
        <p:spPr>
          <a:xfrm>
            <a:off x="1946900" y="1124588"/>
            <a:ext cx="1850900" cy="472825"/>
          </a:xfrm>
          <a:prstGeom prst="rect">
            <a:avLst/>
          </a:prstGeom>
          <a:noFill/>
          <a:ln>
            <a:noFill/>
          </a:ln>
        </p:spPr>
      </p:pic>
      <p:pic>
        <p:nvPicPr>
          <p:cNvPr id="157" name="Google Shape;157;p23"/>
          <p:cNvPicPr preferRelativeResize="0"/>
          <p:nvPr/>
        </p:nvPicPr>
        <p:blipFill>
          <a:blip r:embed="rId4">
            <a:alphaModFix/>
          </a:blip>
          <a:stretch>
            <a:fillRect/>
          </a:stretch>
        </p:blipFill>
        <p:spPr>
          <a:xfrm>
            <a:off x="4243488" y="884592"/>
            <a:ext cx="1693925" cy="952833"/>
          </a:xfrm>
          <a:prstGeom prst="rect">
            <a:avLst/>
          </a:prstGeom>
          <a:noFill/>
          <a:ln>
            <a:noFill/>
          </a:ln>
        </p:spPr>
      </p:pic>
      <p:pic>
        <p:nvPicPr>
          <p:cNvPr id="158" name="Google Shape;158;p23"/>
          <p:cNvPicPr preferRelativeResize="0"/>
          <p:nvPr/>
        </p:nvPicPr>
        <p:blipFill>
          <a:blip r:embed="rId5">
            <a:alphaModFix/>
          </a:blip>
          <a:stretch>
            <a:fillRect/>
          </a:stretch>
        </p:blipFill>
        <p:spPr>
          <a:xfrm>
            <a:off x="6267925" y="1094875"/>
            <a:ext cx="2121750" cy="532275"/>
          </a:xfrm>
          <a:prstGeom prst="rect">
            <a:avLst/>
          </a:prstGeom>
          <a:noFill/>
          <a:ln>
            <a:noFill/>
          </a:ln>
        </p:spPr>
      </p:pic>
      <p:sp>
        <p:nvSpPr>
          <p:cNvPr id="159" name="Google Shape;159;p23"/>
          <p:cNvSpPr txBox="1"/>
          <p:nvPr>
            <p:ph type="title"/>
          </p:nvPr>
        </p:nvSpPr>
        <p:spPr>
          <a:xfrm>
            <a:off x="-86850" y="68650"/>
            <a:ext cx="9341400" cy="572700"/>
          </a:xfrm>
          <a:prstGeom prst="rect">
            <a:avLst/>
          </a:prstGeom>
          <a:solidFill>
            <a:schemeClr val="accent3"/>
          </a:solidFill>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FFFFF"/>
                </a:solidFill>
                <a:latin typeface="Calibri"/>
                <a:ea typeface="Calibri"/>
                <a:cs typeface="Calibri"/>
                <a:sym typeface="Calibri"/>
              </a:rPr>
              <a:t>    3 Types of CRM Solution</a:t>
            </a:r>
            <a:endParaRPr>
              <a:solidFill>
                <a:srgbClr val="FFFFFF"/>
              </a:solidFill>
              <a:latin typeface="Calibri"/>
              <a:ea typeface="Calibri"/>
              <a:cs typeface="Calibri"/>
              <a:sym typeface="Calibri"/>
            </a:endParaRPr>
          </a:p>
        </p:txBody>
      </p:sp>
      <p:pic>
        <p:nvPicPr>
          <p:cNvPr id="160" name="Google Shape;160;p23"/>
          <p:cNvPicPr preferRelativeResize="0"/>
          <p:nvPr/>
        </p:nvPicPr>
        <p:blipFill>
          <a:blip r:embed="rId6">
            <a:alphaModFix/>
          </a:blip>
          <a:stretch>
            <a:fillRect/>
          </a:stretch>
        </p:blipFill>
        <p:spPr>
          <a:xfrm>
            <a:off x="7194724" y="3517687"/>
            <a:ext cx="252000" cy="252000"/>
          </a:xfrm>
          <a:prstGeom prst="rect">
            <a:avLst/>
          </a:prstGeom>
          <a:noFill/>
          <a:ln>
            <a:noFill/>
          </a:ln>
        </p:spPr>
      </p:pic>
      <p:pic>
        <p:nvPicPr>
          <p:cNvPr id="161" name="Google Shape;161;p23"/>
          <p:cNvPicPr preferRelativeResize="0"/>
          <p:nvPr/>
        </p:nvPicPr>
        <p:blipFill>
          <a:blip r:embed="rId7">
            <a:alphaModFix/>
          </a:blip>
          <a:stretch>
            <a:fillRect/>
          </a:stretch>
        </p:blipFill>
        <p:spPr>
          <a:xfrm>
            <a:off x="4922630" y="3429875"/>
            <a:ext cx="360000" cy="360000"/>
          </a:xfrm>
          <a:prstGeom prst="rect">
            <a:avLst/>
          </a:prstGeom>
          <a:noFill/>
          <a:ln>
            <a:noFill/>
          </a:ln>
        </p:spPr>
      </p:pic>
      <p:pic>
        <p:nvPicPr>
          <p:cNvPr id="162" name="Google Shape;162;p23"/>
          <p:cNvPicPr preferRelativeResize="0"/>
          <p:nvPr/>
        </p:nvPicPr>
        <p:blipFill>
          <a:blip r:embed="rId7">
            <a:alphaModFix/>
          </a:blip>
          <a:stretch>
            <a:fillRect/>
          </a:stretch>
        </p:blipFill>
        <p:spPr>
          <a:xfrm>
            <a:off x="2692355" y="3429875"/>
            <a:ext cx="360000" cy="360000"/>
          </a:xfrm>
          <a:prstGeom prst="rect">
            <a:avLst/>
          </a:prstGeom>
          <a:noFill/>
          <a:ln>
            <a:noFill/>
          </a:ln>
        </p:spPr>
      </p:pic>
      <p:pic>
        <p:nvPicPr>
          <p:cNvPr id="163" name="Google Shape;163;p23"/>
          <p:cNvPicPr preferRelativeResize="0"/>
          <p:nvPr/>
        </p:nvPicPr>
        <p:blipFill>
          <a:blip r:embed="rId6">
            <a:alphaModFix/>
          </a:blip>
          <a:stretch>
            <a:fillRect/>
          </a:stretch>
        </p:blipFill>
        <p:spPr>
          <a:xfrm>
            <a:off x="2746349" y="3887987"/>
            <a:ext cx="252000" cy="252000"/>
          </a:xfrm>
          <a:prstGeom prst="rect">
            <a:avLst/>
          </a:prstGeom>
          <a:noFill/>
          <a:ln>
            <a:noFill/>
          </a:ln>
        </p:spPr>
      </p:pic>
      <p:pic>
        <p:nvPicPr>
          <p:cNvPr id="164" name="Google Shape;164;p23"/>
          <p:cNvPicPr preferRelativeResize="0"/>
          <p:nvPr/>
        </p:nvPicPr>
        <p:blipFill>
          <a:blip r:embed="rId6">
            <a:alphaModFix/>
          </a:blip>
          <a:stretch>
            <a:fillRect/>
          </a:stretch>
        </p:blipFill>
        <p:spPr>
          <a:xfrm>
            <a:off x="7194724" y="3887987"/>
            <a:ext cx="252000" cy="252000"/>
          </a:xfrm>
          <a:prstGeom prst="rect">
            <a:avLst/>
          </a:prstGeom>
          <a:noFill/>
          <a:ln>
            <a:noFill/>
          </a:ln>
        </p:spPr>
      </p:pic>
      <p:pic>
        <p:nvPicPr>
          <p:cNvPr id="165" name="Google Shape;165;p23"/>
          <p:cNvPicPr preferRelativeResize="0"/>
          <p:nvPr/>
        </p:nvPicPr>
        <p:blipFill>
          <a:blip r:embed="rId7">
            <a:alphaModFix/>
          </a:blip>
          <a:stretch>
            <a:fillRect/>
          </a:stretch>
        </p:blipFill>
        <p:spPr>
          <a:xfrm>
            <a:off x="4922630" y="3833975"/>
            <a:ext cx="360000" cy="360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9" name="Shape 169"/>
        <p:cNvGrpSpPr/>
        <p:nvPr/>
      </p:nvGrpSpPr>
      <p:grpSpPr>
        <a:xfrm>
          <a:off x="0" y="0"/>
          <a:ext cx="0" cy="0"/>
          <a:chOff x="0" y="0"/>
          <a:chExt cx="0" cy="0"/>
        </a:xfrm>
      </p:grpSpPr>
      <p:sp>
        <p:nvSpPr>
          <p:cNvPr id="170" name="Google Shape;170;p24"/>
          <p:cNvSpPr txBox="1"/>
          <p:nvPr>
            <p:ph type="title"/>
          </p:nvPr>
        </p:nvSpPr>
        <p:spPr>
          <a:xfrm>
            <a:off x="-86850" y="68650"/>
            <a:ext cx="9341400" cy="572700"/>
          </a:xfrm>
          <a:prstGeom prst="rect">
            <a:avLst/>
          </a:prstGeom>
          <a:solidFill>
            <a:schemeClr val="accent3"/>
          </a:solidFill>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FFFFF"/>
                </a:solidFill>
                <a:latin typeface="Calibri"/>
                <a:ea typeface="Calibri"/>
                <a:cs typeface="Calibri"/>
                <a:sym typeface="Calibri"/>
              </a:rPr>
              <a:t>    3 Types of CRM Solution</a:t>
            </a:r>
            <a:endParaRPr>
              <a:solidFill>
                <a:srgbClr val="FFFFFF"/>
              </a:solidFill>
              <a:latin typeface="Calibri"/>
              <a:ea typeface="Calibri"/>
              <a:cs typeface="Calibri"/>
              <a:sym typeface="Calibri"/>
            </a:endParaRPr>
          </a:p>
        </p:txBody>
      </p:sp>
      <p:graphicFrame>
        <p:nvGraphicFramePr>
          <p:cNvPr id="171" name="Google Shape;171;p24"/>
          <p:cNvGraphicFramePr/>
          <p:nvPr/>
        </p:nvGraphicFramePr>
        <p:xfrm>
          <a:off x="629400" y="851850"/>
          <a:ext cx="3000000" cy="3000000"/>
        </p:xfrm>
        <a:graphic>
          <a:graphicData uri="http://schemas.openxmlformats.org/drawingml/2006/table">
            <a:tbl>
              <a:tblPr>
                <a:noFill/>
                <a:tableStyleId>{B641D22A-6812-496B-9EF9-B6DF2DE4AA8D}</a:tableStyleId>
              </a:tblPr>
              <a:tblGrid>
                <a:gridCol w="1230750"/>
                <a:gridCol w="2182875"/>
                <a:gridCol w="2182875"/>
                <a:gridCol w="2182875"/>
              </a:tblGrid>
              <a:tr h="1057925">
                <a:tc>
                  <a:txBody>
                    <a:bodyPr>
                      <a:noAutofit/>
                    </a:bodyPr>
                    <a:lstStyle/>
                    <a:p>
                      <a:pPr indent="0" lvl="0" marL="0" rtl="0" algn="ctr">
                        <a:spcBef>
                          <a:spcPts val="0"/>
                        </a:spcBef>
                        <a:spcAft>
                          <a:spcPts val="0"/>
                        </a:spcAft>
                        <a:buNone/>
                      </a:pPr>
                      <a:r>
                        <a:t/>
                      </a:r>
                      <a:endParaRPr>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t/>
                      </a:r>
                      <a:endParaRPr>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t/>
                      </a:r>
                      <a:endParaRPr>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t/>
                      </a:r>
                      <a:endParaRPr>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Type</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c>
                  <a:txBody>
                    <a:bodyPr>
                      <a:noAutofit/>
                    </a:bodyPr>
                    <a:lstStyle/>
                    <a:p>
                      <a:pPr indent="0" lvl="0" marL="0" rtl="0" algn="ctr">
                        <a:spcBef>
                          <a:spcPts val="0"/>
                        </a:spcBef>
                        <a:spcAft>
                          <a:spcPts val="0"/>
                        </a:spcAft>
                        <a:buNone/>
                      </a:pPr>
                      <a:r>
                        <a:rPr lang="en-GB">
                          <a:solidFill>
                            <a:srgbClr val="E06666"/>
                          </a:solidFill>
                          <a:latin typeface="Calibri"/>
                          <a:ea typeface="Calibri"/>
                          <a:cs typeface="Calibri"/>
                          <a:sym typeface="Calibri"/>
                        </a:rPr>
                        <a:t>Open Source</a:t>
                      </a:r>
                      <a:endParaRPr>
                        <a:solidFill>
                          <a:srgbClr val="E06666"/>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Freemium</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Licensed</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r>
              <a:tr h="381000">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Cost/person</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GB" sz="1800">
                          <a:solidFill>
                            <a:srgbClr val="E06666"/>
                          </a:solidFill>
                          <a:latin typeface="Calibri"/>
                          <a:ea typeface="Calibri"/>
                          <a:cs typeface="Calibri"/>
                          <a:sym typeface="Calibri"/>
                        </a:rPr>
                        <a:t>Free</a:t>
                      </a:r>
                      <a:endParaRPr b="1" sz="1800">
                        <a:solidFill>
                          <a:srgbClr val="E06666"/>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GB" sz="1800">
                          <a:solidFill>
                            <a:srgbClr val="434343"/>
                          </a:solidFill>
                          <a:latin typeface="Calibri"/>
                          <a:ea typeface="Calibri"/>
                          <a:cs typeface="Calibri"/>
                          <a:sym typeface="Calibri"/>
                        </a:rPr>
                        <a:t>$39</a:t>
                      </a:r>
                      <a:r>
                        <a:rPr lang="en-GB" sz="1800">
                          <a:solidFill>
                            <a:srgbClr val="434343"/>
                          </a:solidFill>
                          <a:latin typeface="Calibri"/>
                          <a:ea typeface="Calibri"/>
                          <a:cs typeface="Calibri"/>
                          <a:sym typeface="Calibri"/>
                        </a:rPr>
                        <a:t>/</a:t>
                      </a:r>
                      <a:endParaRPr sz="1800">
                        <a:solidFill>
                          <a:srgbClr val="434343"/>
                        </a:solidFill>
                        <a:latin typeface="Calibri"/>
                        <a:ea typeface="Calibri"/>
                        <a:cs typeface="Calibri"/>
                        <a:sym typeface="Calibri"/>
                      </a:endParaRPr>
                    </a:p>
                    <a:p>
                      <a:pPr indent="0" lvl="0" marL="0" rtl="0" algn="ctr">
                        <a:spcBef>
                          <a:spcPts val="0"/>
                        </a:spcBef>
                        <a:spcAft>
                          <a:spcPts val="0"/>
                        </a:spcAft>
                        <a:buNone/>
                      </a:pPr>
                      <a:r>
                        <a:rPr lang="en-GB" sz="1800">
                          <a:solidFill>
                            <a:srgbClr val="434343"/>
                          </a:solidFill>
                          <a:latin typeface="Calibri"/>
                          <a:ea typeface="Calibri"/>
                          <a:cs typeface="Calibri"/>
                          <a:sym typeface="Calibri"/>
                        </a:rPr>
                        <a:t>Month </a:t>
                      </a:r>
                      <a:r>
                        <a:rPr b="1" lang="en-GB" sz="1800">
                          <a:solidFill>
                            <a:srgbClr val="434343"/>
                          </a:solidFill>
                          <a:latin typeface="Calibri"/>
                          <a:ea typeface="Calibri"/>
                          <a:cs typeface="Calibri"/>
                          <a:sym typeface="Calibri"/>
                        </a:rPr>
                        <a:t>per</a:t>
                      </a:r>
                      <a:r>
                        <a:rPr lang="en-GB" sz="1800">
                          <a:solidFill>
                            <a:srgbClr val="434343"/>
                          </a:solidFill>
                          <a:latin typeface="Calibri"/>
                          <a:ea typeface="Calibri"/>
                          <a:cs typeface="Calibri"/>
                          <a:sym typeface="Calibri"/>
                        </a:rPr>
                        <a:t> User</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GB" sz="1800">
                          <a:solidFill>
                            <a:srgbClr val="434343"/>
                          </a:solidFill>
                          <a:latin typeface="Calibri"/>
                          <a:ea typeface="Calibri"/>
                          <a:cs typeface="Calibri"/>
                          <a:sym typeface="Calibri"/>
                        </a:rPr>
                        <a:t>$242</a:t>
                      </a:r>
                      <a:r>
                        <a:rPr lang="en-GB" sz="1800">
                          <a:solidFill>
                            <a:srgbClr val="434343"/>
                          </a:solidFill>
                          <a:latin typeface="Calibri"/>
                          <a:ea typeface="Calibri"/>
                          <a:cs typeface="Calibri"/>
                          <a:sym typeface="Calibri"/>
                        </a:rPr>
                        <a:t>/</a:t>
                      </a:r>
                      <a:endParaRPr sz="1800">
                        <a:solidFill>
                          <a:srgbClr val="434343"/>
                        </a:solidFill>
                        <a:latin typeface="Calibri"/>
                        <a:ea typeface="Calibri"/>
                        <a:cs typeface="Calibri"/>
                        <a:sym typeface="Calibri"/>
                      </a:endParaRPr>
                    </a:p>
                    <a:p>
                      <a:pPr indent="0" lvl="0" marL="0" rtl="0" algn="ctr">
                        <a:spcBef>
                          <a:spcPts val="0"/>
                        </a:spcBef>
                        <a:spcAft>
                          <a:spcPts val="0"/>
                        </a:spcAft>
                        <a:buNone/>
                      </a:pPr>
                      <a:r>
                        <a:rPr lang="en-GB" sz="1800">
                          <a:solidFill>
                            <a:srgbClr val="434343"/>
                          </a:solidFill>
                          <a:latin typeface="Calibri"/>
                          <a:ea typeface="Calibri"/>
                          <a:cs typeface="Calibri"/>
                          <a:sym typeface="Calibri"/>
                        </a:rPr>
                        <a:t>Month </a:t>
                      </a:r>
                      <a:r>
                        <a:rPr b="1" lang="en-GB" sz="1800">
                          <a:solidFill>
                            <a:srgbClr val="434343"/>
                          </a:solidFill>
                          <a:latin typeface="Calibri"/>
                          <a:ea typeface="Calibri"/>
                          <a:cs typeface="Calibri"/>
                          <a:sym typeface="Calibri"/>
                        </a:rPr>
                        <a:t>per</a:t>
                      </a:r>
                      <a:r>
                        <a:rPr lang="en-GB" sz="1800">
                          <a:solidFill>
                            <a:srgbClr val="434343"/>
                          </a:solidFill>
                          <a:latin typeface="Calibri"/>
                          <a:ea typeface="Calibri"/>
                          <a:cs typeface="Calibri"/>
                          <a:sym typeface="Calibri"/>
                        </a:rPr>
                        <a:t> User</a:t>
                      </a:r>
                      <a:endParaRPr sz="1800">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Users</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c>
                  <a:txBody>
                    <a:bodyPr>
                      <a:noAutofit/>
                    </a:bodyPr>
                    <a:lstStyle/>
                    <a:p>
                      <a:pPr indent="0" lvl="0" marL="0" rtl="0" algn="ctr">
                        <a:spcBef>
                          <a:spcPts val="0"/>
                        </a:spcBef>
                        <a:spcAft>
                          <a:spcPts val="0"/>
                        </a:spcAft>
                        <a:buNone/>
                      </a:pPr>
                      <a:r>
                        <a:rPr lang="en-GB">
                          <a:solidFill>
                            <a:srgbClr val="E06666"/>
                          </a:solidFill>
                          <a:latin typeface="Calibri"/>
                          <a:ea typeface="Calibri"/>
                          <a:cs typeface="Calibri"/>
                          <a:sym typeface="Calibri"/>
                        </a:rPr>
                        <a:t>Unlimited</a:t>
                      </a:r>
                      <a:endParaRPr b="1" sz="1800">
                        <a:solidFill>
                          <a:srgbClr val="E06666"/>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5</a:t>
                      </a:r>
                      <a:endParaRPr b="1" sz="1800">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c>
                  <a:txBody>
                    <a:bodyPr>
                      <a:noAutofit/>
                    </a:bodyPr>
                    <a:lstStyle/>
                    <a:p>
                      <a:pPr indent="0" lvl="0" marL="0" rtl="0" algn="ctr">
                        <a:spcBef>
                          <a:spcPts val="0"/>
                        </a:spcBef>
                        <a:spcAft>
                          <a:spcPts val="0"/>
                        </a:spcAft>
                        <a:buClr>
                          <a:schemeClr val="dk1"/>
                        </a:buClr>
                        <a:buSzPts val="1100"/>
                        <a:buFont typeface="Arial"/>
                        <a:buNone/>
                      </a:pPr>
                      <a:r>
                        <a:rPr lang="en-GB">
                          <a:solidFill>
                            <a:srgbClr val="434343"/>
                          </a:solidFill>
                          <a:latin typeface="Calibri"/>
                          <a:ea typeface="Calibri"/>
                          <a:cs typeface="Calibri"/>
                          <a:sym typeface="Calibri"/>
                        </a:rPr>
                        <a:t>Unlimited</a:t>
                      </a:r>
                      <a:endParaRPr b="1" sz="1800">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r>
              <a:tr h="381000">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Security</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t/>
                      </a:r>
                      <a:endParaRPr>
                        <a:solidFill>
                          <a:srgbClr val="E06666"/>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Potential</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c>
                  <a:txBody>
                    <a:bodyPr>
                      <a:noAutofit/>
                    </a:bodyPr>
                    <a:lstStyle/>
                    <a:p>
                      <a:pPr indent="0" lvl="0" marL="0" rtl="0" algn="ctr">
                        <a:spcBef>
                          <a:spcPts val="0"/>
                        </a:spcBef>
                        <a:spcAft>
                          <a:spcPts val="0"/>
                        </a:spcAft>
                        <a:buNone/>
                      </a:pPr>
                      <a:r>
                        <a:t/>
                      </a:r>
                      <a:endParaRPr>
                        <a:solidFill>
                          <a:srgbClr val="E06666"/>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c>
                  <a:txBody>
                    <a:bodyPr>
                      <a:noAutofit/>
                    </a:bodyPr>
                    <a:lstStyle/>
                    <a:p>
                      <a:pPr indent="0" lvl="0" marL="0" rtl="0" algn="ctr">
                        <a:spcBef>
                          <a:spcPts val="0"/>
                        </a:spcBef>
                        <a:spcAft>
                          <a:spcPts val="0"/>
                        </a:spcAft>
                        <a:buNone/>
                      </a:pPr>
                      <a:r>
                        <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c>
                  <a:txBody>
                    <a:bodyPr>
                      <a:noAutofit/>
                    </a:bodyPr>
                    <a:lstStyle/>
                    <a:p>
                      <a:pPr indent="0" lvl="0" marL="0" rtl="0" algn="ctr">
                        <a:spcBef>
                          <a:spcPts val="0"/>
                        </a:spcBef>
                        <a:spcAft>
                          <a:spcPts val="0"/>
                        </a:spcAft>
                        <a:buNone/>
                      </a:pPr>
                      <a:r>
                        <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CCCCCC"/>
                    </a:solidFill>
                  </a:tcPr>
                </a:tc>
              </a:tr>
              <a:tr h="381000">
                <a:tc>
                  <a:txBody>
                    <a:bodyPr>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Total Cost</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GB" sz="2400">
                          <a:solidFill>
                            <a:srgbClr val="E06666"/>
                          </a:solidFill>
                          <a:latin typeface="Calibri"/>
                          <a:ea typeface="Calibri"/>
                          <a:cs typeface="Calibri"/>
                          <a:sym typeface="Calibri"/>
                        </a:rPr>
                        <a:t>Free</a:t>
                      </a:r>
                      <a:endParaRPr b="1" sz="2400">
                        <a:solidFill>
                          <a:srgbClr val="E06666"/>
                        </a:solidFill>
                        <a:latin typeface="Calibri"/>
                        <a:ea typeface="Calibri"/>
                        <a:cs typeface="Calibri"/>
                        <a:sym typeface="Calibri"/>
                      </a:endParaRPr>
                    </a:p>
                    <a:p>
                      <a:pPr indent="0" lvl="0" marL="0" rtl="0" algn="ctr">
                        <a:spcBef>
                          <a:spcPts val="0"/>
                        </a:spcBef>
                        <a:spcAft>
                          <a:spcPts val="0"/>
                        </a:spcAft>
                        <a:buNone/>
                      </a:pPr>
                      <a:r>
                        <a:rPr lang="en-GB">
                          <a:solidFill>
                            <a:srgbClr val="E06666"/>
                          </a:solidFill>
                          <a:latin typeface="Calibri"/>
                          <a:ea typeface="Calibri"/>
                          <a:cs typeface="Calibri"/>
                          <a:sym typeface="Calibri"/>
                        </a:rPr>
                        <a:t>($1500 if need support)</a:t>
                      </a:r>
                      <a:endParaRPr>
                        <a:solidFill>
                          <a:srgbClr val="E06666"/>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GB" sz="2400">
                          <a:solidFill>
                            <a:srgbClr val="434343"/>
                          </a:solidFill>
                          <a:latin typeface="Calibri"/>
                          <a:ea typeface="Calibri"/>
                          <a:cs typeface="Calibri"/>
                          <a:sym typeface="Calibri"/>
                        </a:rPr>
                        <a:t>$1365</a:t>
                      </a:r>
                      <a:r>
                        <a:rPr lang="en-GB">
                          <a:solidFill>
                            <a:srgbClr val="434343"/>
                          </a:solidFill>
                          <a:latin typeface="Calibri"/>
                          <a:ea typeface="Calibri"/>
                          <a:cs typeface="Calibri"/>
                          <a:sym typeface="Calibri"/>
                        </a:rPr>
                        <a:t>/Month</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GB" sz="2400">
                          <a:solidFill>
                            <a:srgbClr val="434343"/>
                          </a:solidFill>
                          <a:latin typeface="Calibri"/>
                          <a:ea typeface="Calibri"/>
                          <a:cs typeface="Calibri"/>
                          <a:sym typeface="Calibri"/>
                        </a:rPr>
                        <a:t>$9680</a:t>
                      </a:r>
                      <a:r>
                        <a:rPr lang="en-GB">
                          <a:solidFill>
                            <a:srgbClr val="434343"/>
                          </a:solidFill>
                          <a:latin typeface="Calibri"/>
                          <a:ea typeface="Calibri"/>
                          <a:cs typeface="Calibri"/>
                          <a:sym typeface="Calibri"/>
                        </a:rPr>
                        <a:t>/Month </a:t>
                      </a:r>
                      <a:endParaRPr>
                        <a:solidFill>
                          <a:srgbClr val="434343"/>
                        </a:solidFill>
                        <a:latin typeface="Calibri"/>
                        <a:ea typeface="Calibri"/>
                        <a:cs typeface="Calibri"/>
                        <a:sym typeface="Calibri"/>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pic>
        <p:nvPicPr>
          <p:cNvPr id="172" name="Google Shape;172;p24"/>
          <p:cNvPicPr preferRelativeResize="0"/>
          <p:nvPr/>
        </p:nvPicPr>
        <p:blipFill>
          <a:blip r:embed="rId3">
            <a:alphaModFix/>
          </a:blip>
          <a:stretch>
            <a:fillRect/>
          </a:stretch>
        </p:blipFill>
        <p:spPr>
          <a:xfrm>
            <a:off x="1946900" y="1124588"/>
            <a:ext cx="1850900" cy="472825"/>
          </a:xfrm>
          <a:prstGeom prst="rect">
            <a:avLst/>
          </a:prstGeom>
          <a:noFill/>
          <a:ln>
            <a:noFill/>
          </a:ln>
        </p:spPr>
      </p:pic>
      <p:pic>
        <p:nvPicPr>
          <p:cNvPr id="173" name="Google Shape;173;p24"/>
          <p:cNvPicPr preferRelativeResize="0"/>
          <p:nvPr/>
        </p:nvPicPr>
        <p:blipFill>
          <a:blip r:embed="rId4">
            <a:alphaModFix/>
          </a:blip>
          <a:stretch>
            <a:fillRect/>
          </a:stretch>
        </p:blipFill>
        <p:spPr>
          <a:xfrm>
            <a:off x="4243488" y="884592"/>
            <a:ext cx="1693925" cy="952833"/>
          </a:xfrm>
          <a:prstGeom prst="rect">
            <a:avLst/>
          </a:prstGeom>
          <a:noFill/>
          <a:ln>
            <a:noFill/>
          </a:ln>
        </p:spPr>
      </p:pic>
      <p:pic>
        <p:nvPicPr>
          <p:cNvPr id="174" name="Google Shape;174;p24"/>
          <p:cNvPicPr preferRelativeResize="0"/>
          <p:nvPr/>
        </p:nvPicPr>
        <p:blipFill>
          <a:blip r:embed="rId5">
            <a:alphaModFix/>
          </a:blip>
          <a:stretch>
            <a:fillRect/>
          </a:stretch>
        </p:blipFill>
        <p:spPr>
          <a:xfrm>
            <a:off x="6267925" y="1094875"/>
            <a:ext cx="2121750" cy="532275"/>
          </a:xfrm>
          <a:prstGeom prst="rect">
            <a:avLst/>
          </a:prstGeom>
          <a:noFill/>
          <a:ln>
            <a:noFill/>
          </a:ln>
        </p:spPr>
      </p:pic>
      <p:pic>
        <p:nvPicPr>
          <p:cNvPr id="175" name="Google Shape;175;p24"/>
          <p:cNvPicPr preferRelativeResize="0"/>
          <p:nvPr/>
        </p:nvPicPr>
        <p:blipFill>
          <a:blip r:embed="rId6">
            <a:alphaModFix/>
          </a:blip>
          <a:stretch>
            <a:fillRect/>
          </a:stretch>
        </p:blipFill>
        <p:spPr>
          <a:xfrm>
            <a:off x="7194724" y="3517687"/>
            <a:ext cx="252000" cy="252000"/>
          </a:xfrm>
          <a:prstGeom prst="rect">
            <a:avLst/>
          </a:prstGeom>
          <a:noFill/>
          <a:ln>
            <a:noFill/>
          </a:ln>
        </p:spPr>
      </p:pic>
      <p:pic>
        <p:nvPicPr>
          <p:cNvPr id="176" name="Google Shape;176;p24"/>
          <p:cNvPicPr preferRelativeResize="0"/>
          <p:nvPr/>
        </p:nvPicPr>
        <p:blipFill>
          <a:blip r:embed="rId7">
            <a:alphaModFix/>
          </a:blip>
          <a:stretch>
            <a:fillRect/>
          </a:stretch>
        </p:blipFill>
        <p:spPr>
          <a:xfrm>
            <a:off x="4922630" y="3429875"/>
            <a:ext cx="360000" cy="360000"/>
          </a:xfrm>
          <a:prstGeom prst="rect">
            <a:avLst/>
          </a:prstGeom>
          <a:noFill/>
          <a:ln>
            <a:noFill/>
          </a:ln>
        </p:spPr>
      </p:pic>
      <p:pic>
        <p:nvPicPr>
          <p:cNvPr id="177" name="Google Shape;177;p24"/>
          <p:cNvPicPr preferRelativeResize="0"/>
          <p:nvPr/>
        </p:nvPicPr>
        <p:blipFill>
          <a:blip r:embed="rId7">
            <a:alphaModFix/>
          </a:blip>
          <a:stretch>
            <a:fillRect/>
          </a:stretch>
        </p:blipFill>
        <p:spPr>
          <a:xfrm>
            <a:off x="2692355" y="3429875"/>
            <a:ext cx="360000" cy="360000"/>
          </a:xfrm>
          <a:prstGeom prst="rect">
            <a:avLst/>
          </a:prstGeom>
          <a:noFill/>
          <a:ln>
            <a:noFill/>
          </a:ln>
        </p:spPr>
      </p:pic>
      <p:pic>
        <p:nvPicPr>
          <p:cNvPr id="178" name="Google Shape;178;p24"/>
          <p:cNvPicPr preferRelativeResize="0"/>
          <p:nvPr/>
        </p:nvPicPr>
        <p:blipFill>
          <a:blip r:embed="rId6">
            <a:alphaModFix/>
          </a:blip>
          <a:stretch>
            <a:fillRect/>
          </a:stretch>
        </p:blipFill>
        <p:spPr>
          <a:xfrm>
            <a:off x="2746349" y="3887987"/>
            <a:ext cx="252000" cy="252000"/>
          </a:xfrm>
          <a:prstGeom prst="rect">
            <a:avLst/>
          </a:prstGeom>
          <a:noFill/>
          <a:ln>
            <a:noFill/>
          </a:ln>
        </p:spPr>
      </p:pic>
      <p:pic>
        <p:nvPicPr>
          <p:cNvPr id="179" name="Google Shape;179;p24"/>
          <p:cNvPicPr preferRelativeResize="0"/>
          <p:nvPr/>
        </p:nvPicPr>
        <p:blipFill>
          <a:blip r:embed="rId6">
            <a:alphaModFix/>
          </a:blip>
          <a:stretch>
            <a:fillRect/>
          </a:stretch>
        </p:blipFill>
        <p:spPr>
          <a:xfrm>
            <a:off x="7194724" y="3887987"/>
            <a:ext cx="252000" cy="252000"/>
          </a:xfrm>
          <a:prstGeom prst="rect">
            <a:avLst/>
          </a:prstGeom>
          <a:noFill/>
          <a:ln>
            <a:noFill/>
          </a:ln>
        </p:spPr>
      </p:pic>
      <p:pic>
        <p:nvPicPr>
          <p:cNvPr id="180" name="Google Shape;180;p24"/>
          <p:cNvPicPr preferRelativeResize="0"/>
          <p:nvPr/>
        </p:nvPicPr>
        <p:blipFill>
          <a:blip r:embed="rId7">
            <a:alphaModFix/>
          </a:blip>
          <a:stretch>
            <a:fillRect/>
          </a:stretch>
        </p:blipFill>
        <p:spPr>
          <a:xfrm>
            <a:off x="4922630" y="3833975"/>
            <a:ext cx="360000" cy="360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4" name="Shape 184"/>
        <p:cNvGrpSpPr/>
        <p:nvPr/>
      </p:nvGrpSpPr>
      <p:grpSpPr>
        <a:xfrm>
          <a:off x="0" y="0"/>
          <a:ext cx="0" cy="0"/>
          <a:chOff x="0" y="0"/>
          <a:chExt cx="0" cy="0"/>
        </a:xfrm>
      </p:grpSpPr>
      <p:sp>
        <p:nvSpPr>
          <p:cNvPr id="185" name="Google Shape;185;p25"/>
          <p:cNvSpPr txBox="1"/>
          <p:nvPr>
            <p:ph type="title"/>
          </p:nvPr>
        </p:nvSpPr>
        <p:spPr>
          <a:xfrm>
            <a:off x="311700" y="1999050"/>
            <a:ext cx="8520600" cy="836100"/>
          </a:xfrm>
          <a:prstGeom prst="rect">
            <a:avLst/>
          </a:prstGeom>
          <a:solidFill>
            <a:schemeClr val="accent3"/>
          </a:solidFill>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rgbClr val="FFFFFF"/>
                </a:solidFill>
                <a:latin typeface="Calibri"/>
                <a:ea typeface="Calibri"/>
                <a:cs typeface="Calibri"/>
                <a:sym typeface="Calibri"/>
              </a:rPr>
              <a:t>Question 3: </a:t>
            </a:r>
            <a:r>
              <a:rPr lang="en-GB" sz="2000">
                <a:solidFill>
                  <a:srgbClr val="FFFFFF"/>
                </a:solidFill>
                <a:latin typeface="Calibri"/>
                <a:ea typeface="Calibri"/>
                <a:cs typeface="Calibri"/>
                <a:sym typeface="Calibri"/>
              </a:rPr>
              <a:t>What are the </a:t>
            </a:r>
            <a:r>
              <a:rPr b="1" lang="en-GB" sz="2000">
                <a:solidFill>
                  <a:srgbClr val="FFFFFF"/>
                </a:solidFill>
                <a:latin typeface="Calibri"/>
                <a:ea typeface="Calibri"/>
                <a:cs typeface="Calibri"/>
                <a:sym typeface="Calibri"/>
              </a:rPr>
              <a:t>modalities </a:t>
            </a:r>
            <a:r>
              <a:rPr lang="en-GB" sz="2000">
                <a:solidFill>
                  <a:srgbClr val="FFFFFF"/>
                </a:solidFill>
                <a:latin typeface="Calibri"/>
                <a:ea typeface="Calibri"/>
                <a:cs typeface="Calibri"/>
                <a:sym typeface="Calibri"/>
              </a:rPr>
              <a:t>of deployment to provide for a successful CRM project and particularly </a:t>
            </a:r>
            <a:r>
              <a:rPr b="1" lang="en-GB" sz="2000">
                <a:solidFill>
                  <a:srgbClr val="FFFFFF"/>
                </a:solidFill>
                <a:latin typeface="Calibri"/>
                <a:ea typeface="Calibri"/>
                <a:cs typeface="Calibri"/>
                <a:sym typeface="Calibri"/>
              </a:rPr>
              <a:t>in this case</a:t>
            </a:r>
            <a:r>
              <a:rPr lang="en-GB" sz="2000">
                <a:solidFill>
                  <a:srgbClr val="FFFFFF"/>
                </a:solidFill>
                <a:latin typeface="Calibri"/>
                <a:ea typeface="Calibri"/>
                <a:cs typeface="Calibri"/>
                <a:sym typeface="Calibri"/>
              </a:rPr>
              <a:t>?</a:t>
            </a:r>
            <a:endParaRPr sz="2000">
              <a:solidFill>
                <a:srgbClr val="FFFFFF"/>
              </a:solidFill>
              <a:latin typeface="Calibri"/>
              <a:ea typeface="Calibri"/>
              <a:cs typeface="Calibri"/>
              <a:sym typeface="Calibri"/>
            </a:endParaRPr>
          </a:p>
          <a:p>
            <a:pPr indent="0" lvl="0" marL="0" rtl="0" algn="l">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9" name="Shape 189"/>
        <p:cNvGrpSpPr/>
        <p:nvPr/>
      </p:nvGrpSpPr>
      <p:grpSpPr>
        <a:xfrm>
          <a:off x="0" y="0"/>
          <a:ext cx="0" cy="0"/>
          <a:chOff x="0" y="0"/>
          <a:chExt cx="0" cy="0"/>
        </a:xfrm>
      </p:grpSpPr>
      <p:grpSp>
        <p:nvGrpSpPr>
          <p:cNvPr id="190" name="Google Shape;190;p26"/>
          <p:cNvGrpSpPr/>
          <p:nvPr/>
        </p:nvGrpSpPr>
        <p:grpSpPr>
          <a:xfrm>
            <a:off x="5077387" y="975919"/>
            <a:ext cx="2797442" cy="3770405"/>
            <a:chOff x="976450" y="718538"/>
            <a:chExt cx="2695550" cy="4063813"/>
          </a:xfrm>
        </p:grpSpPr>
        <p:sp>
          <p:nvSpPr>
            <p:cNvPr id="191" name="Google Shape;191;p26"/>
            <p:cNvSpPr/>
            <p:nvPr/>
          </p:nvSpPr>
          <p:spPr>
            <a:xfrm>
              <a:off x="976500" y="1203350"/>
              <a:ext cx="2695500" cy="3579000"/>
            </a:xfrm>
            <a:prstGeom prst="roundRect">
              <a:avLst>
                <a:gd fmla="val 16667" name="adj"/>
              </a:avLst>
            </a:prstGeom>
            <a:solidFill>
              <a:srgbClr val="E06666"/>
            </a:solidFill>
            <a:ln cap="flat" cmpd="sng" w="19050">
              <a:solidFill>
                <a:srgbClr val="66666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GB">
                  <a:latin typeface="Calibri"/>
                  <a:ea typeface="Calibri"/>
                  <a:cs typeface="Calibri"/>
                  <a:sym typeface="Calibri"/>
                </a:rPr>
                <a:t>  </a:t>
              </a:r>
              <a:r>
                <a:rPr lang="en-GB" sz="1600">
                  <a:latin typeface="Calibri"/>
                  <a:ea typeface="Calibri"/>
                  <a:cs typeface="Calibri"/>
                  <a:sym typeface="Calibri"/>
                </a:rPr>
                <a:t>  </a:t>
              </a:r>
              <a:r>
                <a:rPr lang="en-GB">
                  <a:solidFill>
                    <a:srgbClr val="FFFFFF"/>
                  </a:solidFill>
                  <a:latin typeface="Calibri"/>
                  <a:ea typeface="Calibri"/>
                  <a:cs typeface="Calibri"/>
                  <a:sym typeface="Calibri"/>
                </a:rPr>
                <a:t>Pros:</a:t>
              </a:r>
              <a:endParaRPr>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lang="en-GB">
                  <a:solidFill>
                    <a:srgbClr val="FFFFFF"/>
                  </a:solidFill>
                  <a:latin typeface="Calibri"/>
                  <a:ea typeface="Calibri"/>
                  <a:cs typeface="Calibri"/>
                  <a:sym typeface="Calibri"/>
                </a:rPr>
                <a:t>High Security</a:t>
              </a:r>
              <a:endParaRPr>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lang="en-GB">
                  <a:solidFill>
                    <a:srgbClr val="FFFFFF"/>
                  </a:solidFill>
                  <a:latin typeface="Calibri"/>
                  <a:ea typeface="Calibri"/>
                  <a:cs typeface="Calibri"/>
                  <a:sym typeface="Calibri"/>
                </a:rPr>
                <a:t>Data </a:t>
              </a:r>
              <a:r>
                <a:rPr lang="en-GB">
                  <a:solidFill>
                    <a:srgbClr val="FFFFFF"/>
                  </a:solidFill>
                  <a:latin typeface="Calibri"/>
                  <a:ea typeface="Calibri"/>
                  <a:cs typeface="Calibri"/>
                  <a:sym typeface="Calibri"/>
                </a:rPr>
                <a:t>Synchronization</a:t>
              </a:r>
              <a:endParaRPr>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lang="en-GB">
                  <a:solidFill>
                    <a:srgbClr val="FFFFFF"/>
                  </a:solidFill>
                  <a:latin typeface="Calibri"/>
                  <a:ea typeface="Calibri"/>
                  <a:cs typeface="Calibri"/>
                  <a:sym typeface="Calibri"/>
                </a:rPr>
                <a:t>Zero Maintenance</a:t>
              </a:r>
              <a:endParaRPr>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b="1" lang="en-GB">
                  <a:solidFill>
                    <a:srgbClr val="FFFFFF"/>
                  </a:solidFill>
                  <a:latin typeface="Calibri"/>
                  <a:ea typeface="Calibri"/>
                  <a:cs typeface="Calibri"/>
                  <a:sym typeface="Calibri"/>
                </a:rPr>
                <a:t>Low Cost</a:t>
              </a:r>
              <a:endParaRPr b="1">
                <a:solidFill>
                  <a:srgbClr val="FFFFFF"/>
                </a:solidFill>
                <a:latin typeface="Calibri"/>
                <a:ea typeface="Calibri"/>
                <a:cs typeface="Calibri"/>
                <a:sym typeface="Calibri"/>
              </a:endParaRPr>
            </a:p>
            <a:p>
              <a:pPr indent="0" lvl="0" marL="0" rtl="0" algn="l">
                <a:spcBef>
                  <a:spcPts val="0"/>
                </a:spcBef>
                <a:spcAft>
                  <a:spcPts val="0"/>
                </a:spcAft>
                <a:buNone/>
              </a:pPr>
              <a:r>
                <a:rPr lang="en-GB">
                  <a:solidFill>
                    <a:srgbClr val="FFFFFF"/>
                  </a:solidFill>
                  <a:latin typeface="Calibri"/>
                  <a:ea typeface="Calibri"/>
                  <a:cs typeface="Calibri"/>
                  <a:sym typeface="Calibri"/>
                </a:rPr>
                <a:t>    Cons:</a:t>
              </a:r>
              <a:endParaRPr>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lang="en-GB">
                  <a:solidFill>
                    <a:srgbClr val="FFFFFF"/>
                  </a:solidFill>
                  <a:latin typeface="Calibri"/>
                  <a:ea typeface="Calibri"/>
                  <a:cs typeface="Calibri"/>
                  <a:sym typeface="Calibri"/>
                </a:rPr>
                <a:t>Unfamiliar</a:t>
              </a:r>
              <a:endParaRPr>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lang="en-GB">
                  <a:solidFill>
                    <a:srgbClr val="FFFFFF"/>
                  </a:solidFill>
                  <a:latin typeface="Calibri"/>
                  <a:ea typeface="Calibri"/>
                  <a:cs typeface="Calibri"/>
                  <a:sym typeface="Calibri"/>
                </a:rPr>
                <a:t>Low Customizable</a:t>
              </a:r>
              <a:endParaRPr>
                <a:solidFill>
                  <a:srgbClr val="FFFFFF"/>
                </a:solidFill>
                <a:latin typeface="Calibri"/>
                <a:ea typeface="Calibri"/>
                <a:cs typeface="Calibri"/>
                <a:sym typeface="Calibri"/>
              </a:endParaRPr>
            </a:p>
          </p:txBody>
        </p:sp>
        <p:sp>
          <p:nvSpPr>
            <p:cNvPr id="192" name="Google Shape;192;p26"/>
            <p:cNvSpPr/>
            <p:nvPr/>
          </p:nvSpPr>
          <p:spPr>
            <a:xfrm>
              <a:off x="976450" y="718538"/>
              <a:ext cx="2695500" cy="1338900"/>
            </a:xfrm>
            <a:prstGeom prst="wedgeRoundRectCallout">
              <a:avLst>
                <a:gd fmla="val -20833" name="adj1"/>
                <a:gd fmla="val 62500" name="adj2"/>
                <a:gd fmla="val 0" name="adj3"/>
              </a:avLst>
            </a:prstGeom>
            <a:solidFill>
              <a:srgbClr val="E06666"/>
            </a:solidFill>
            <a:ln cap="flat" cmpd="sng" w="1905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2000">
                <a:solidFill>
                  <a:srgbClr val="FFFFFF"/>
                </a:solidFill>
                <a:latin typeface="Calibri"/>
                <a:ea typeface="Calibri"/>
                <a:cs typeface="Calibri"/>
                <a:sym typeface="Calibri"/>
              </a:endParaRPr>
            </a:p>
            <a:p>
              <a:pPr indent="0" lvl="0" marL="0" rtl="0" algn="ctr">
                <a:spcBef>
                  <a:spcPts val="0"/>
                </a:spcBef>
                <a:spcAft>
                  <a:spcPts val="0"/>
                </a:spcAft>
                <a:buNone/>
              </a:pPr>
              <a:r>
                <a:rPr b="1" lang="en-GB" sz="2000">
                  <a:solidFill>
                    <a:srgbClr val="FFFFFF"/>
                  </a:solidFill>
                  <a:latin typeface="Calibri"/>
                  <a:ea typeface="Calibri"/>
                  <a:cs typeface="Calibri"/>
                  <a:sym typeface="Calibri"/>
                </a:rPr>
                <a:t>Cloud </a:t>
              </a:r>
              <a:r>
                <a:rPr lang="en-GB" sz="2000">
                  <a:solidFill>
                    <a:srgbClr val="FFFFFF"/>
                  </a:solidFill>
                  <a:latin typeface="Calibri"/>
                  <a:ea typeface="Calibri"/>
                  <a:cs typeface="Calibri"/>
                  <a:sym typeface="Calibri"/>
                </a:rPr>
                <a:t>Deployment</a:t>
              </a:r>
              <a:endParaRPr sz="2000">
                <a:solidFill>
                  <a:srgbClr val="FFFFFF"/>
                </a:solidFill>
                <a:latin typeface="Calibri"/>
                <a:ea typeface="Calibri"/>
                <a:cs typeface="Calibri"/>
                <a:sym typeface="Calibri"/>
              </a:endParaRPr>
            </a:p>
          </p:txBody>
        </p:sp>
      </p:grpSp>
      <p:grpSp>
        <p:nvGrpSpPr>
          <p:cNvPr id="193" name="Google Shape;193;p26"/>
          <p:cNvGrpSpPr/>
          <p:nvPr/>
        </p:nvGrpSpPr>
        <p:grpSpPr>
          <a:xfrm>
            <a:off x="1412647" y="980880"/>
            <a:ext cx="2674500" cy="3794614"/>
            <a:chOff x="976475" y="722403"/>
            <a:chExt cx="2695525" cy="4060147"/>
          </a:xfrm>
        </p:grpSpPr>
        <p:sp>
          <p:nvSpPr>
            <p:cNvPr id="194" name="Google Shape;194;p26"/>
            <p:cNvSpPr/>
            <p:nvPr/>
          </p:nvSpPr>
          <p:spPr>
            <a:xfrm>
              <a:off x="976500" y="1320250"/>
              <a:ext cx="2695500" cy="3462300"/>
            </a:xfrm>
            <a:prstGeom prst="roundRect">
              <a:avLst>
                <a:gd fmla="val 16667" name="adj"/>
              </a:avLst>
            </a:prstGeom>
            <a:solidFill>
              <a:srgbClr val="EA9999"/>
            </a:solidFill>
            <a:ln cap="flat" cmpd="sng" w="19050">
              <a:solidFill>
                <a:srgbClr val="66666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solidFill>
                    <a:srgbClr val="FFFFFF"/>
                  </a:solidFill>
                  <a:latin typeface="Calibri"/>
                  <a:ea typeface="Calibri"/>
                  <a:cs typeface="Calibri"/>
                  <a:sym typeface="Calibri"/>
                </a:rPr>
                <a:t>    Pros:</a:t>
              </a:r>
              <a:endParaRPr>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lang="en-GB">
                  <a:solidFill>
                    <a:srgbClr val="FFFFFF"/>
                  </a:solidFill>
                  <a:latin typeface="Calibri"/>
                  <a:ea typeface="Calibri"/>
                  <a:cs typeface="Calibri"/>
                  <a:sym typeface="Calibri"/>
                </a:rPr>
                <a:t>No access limitation</a:t>
              </a:r>
              <a:endParaRPr>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lang="en-GB">
                  <a:solidFill>
                    <a:srgbClr val="FFFFFF"/>
                  </a:solidFill>
                  <a:latin typeface="Calibri"/>
                  <a:ea typeface="Calibri"/>
                  <a:cs typeface="Calibri"/>
                  <a:sym typeface="Calibri"/>
                </a:rPr>
                <a:t>Quick access</a:t>
              </a:r>
              <a:endParaRPr>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lang="en-GB">
                  <a:solidFill>
                    <a:srgbClr val="FFFFFF"/>
                  </a:solidFill>
                  <a:latin typeface="Calibri"/>
                  <a:ea typeface="Calibri"/>
                  <a:cs typeface="Calibri"/>
                  <a:sym typeface="Calibri"/>
                </a:rPr>
                <a:t>Support both internal and external access</a:t>
              </a:r>
              <a:endParaRPr>
                <a:solidFill>
                  <a:srgbClr val="FFFFFF"/>
                </a:solidFill>
                <a:latin typeface="Calibri"/>
                <a:ea typeface="Calibri"/>
                <a:cs typeface="Calibri"/>
                <a:sym typeface="Calibri"/>
              </a:endParaRPr>
            </a:p>
            <a:p>
              <a:pPr indent="0" lvl="0" marL="0" rtl="0" algn="l">
                <a:spcBef>
                  <a:spcPts val="0"/>
                </a:spcBef>
                <a:spcAft>
                  <a:spcPts val="0"/>
                </a:spcAft>
                <a:buNone/>
              </a:pPr>
              <a:r>
                <a:rPr lang="en-GB">
                  <a:solidFill>
                    <a:srgbClr val="FFFFFF"/>
                  </a:solidFill>
                  <a:latin typeface="Calibri"/>
                  <a:ea typeface="Calibri"/>
                  <a:cs typeface="Calibri"/>
                  <a:sym typeface="Calibri"/>
                </a:rPr>
                <a:t>    Cons:</a:t>
              </a:r>
              <a:endParaRPr>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b="1" lang="en-GB">
                  <a:solidFill>
                    <a:srgbClr val="FFFFFF"/>
                  </a:solidFill>
                  <a:latin typeface="Calibri"/>
                  <a:ea typeface="Calibri"/>
                  <a:cs typeface="Calibri"/>
                  <a:sym typeface="Calibri"/>
                </a:rPr>
                <a:t>Expensive</a:t>
              </a:r>
              <a:r>
                <a:rPr lang="en-GB">
                  <a:solidFill>
                    <a:srgbClr val="FFFFFF"/>
                  </a:solidFill>
                  <a:latin typeface="Calibri"/>
                  <a:ea typeface="Calibri"/>
                  <a:cs typeface="Calibri"/>
                  <a:sym typeface="Calibri"/>
                </a:rPr>
                <a:t> Hardware</a:t>
              </a:r>
              <a:endParaRPr>
                <a:solidFill>
                  <a:srgbClr val="FFFFFF"/>
                </a:solidFill>
                <a:latin typeface="Calibri"/>
                <a:ea typeface="Calibri"/>
                <a:cs typeface="Calibri"/>
                <a:sym typeface="Calibri"/>
              </a:endParaRPr>
            </a:p>
            <a:p>
              <a:pPr indent="-317500" lvl="0" marL="457200" rtl="0" algn="l">
                <a:spcBef>
                  <a:spcPts val="0"/>
                </a:spcBef>
                <a:spcAft>
                  <a:spcPts val="0"/>
                </a:spcAft>
                <a:buClr>
                  <a:srgbClr val="FFFFFF"/>
                </a:buClr>
                <a:buSzPts val="1400"/>
                <a:buFont typeface="Calibri"/>
                <a:buChar char="-"/>
              </a:pPr>
              <a:r>
                <a:rPr b="1" lang="en-GB">
                  <a:solidFill>
                    <a:srgbClr val="FFFFFF"/>
                  </a:solidFill>
                  <a:latin typeface="Calibri"/>
                  <a:ea typeface="Calibri"/>
                  <a:cs typeface="Calibri"/>
                  <a:sym typeface="Calibri"/>
                </a:rPr>
                <a:t>High maintenance fee</a:t>
              </a:r>
              <a:endParaRPr b="1">
                <a:solidFill>
                  <a:srgbClr val="FFFFFF"/>
                </a:solidFill>
                <a:latin typeface="Calibri"/>
                <a:ea typeface="Calibri"/>
                <a:cs typeface="Calibri"/>
                <a:sym typeface="Calibri"/>
              </a:endParaRPr>
            </a:p>
            <a:p>
              <a:pPr indent="0" lvl="0" marL="0" rtl="0" algn="l">
                <a:spcBef>
                  <a:spcPts val="0"/>
                </a:spcBef>
                <a:spcAft>
                  <a:spcPts val="0"/>
                </a:spcAft>
                <a:buNone/>
              </a:pPr>
              <a:r>
                <a:t/>
              </a:r>
              <a:endParaRPr/>
            </a:p>
          </p:txBody>
        </p:sp>
        <p:sp>
          <p:nvSpPr>
            <p:cNvPr id="195" name="Google Shape;195;p26"/>
            <p:cNvSpPr/>
            <p:nvPr/>
          </p:nvSpPr>
          <p:spPr>
            <a:xfrm>
              <a:off x="976475" y="722403"/>
              <a:ext cx="2695500" cy="1338900"/>
            </a:xfrm>
            <a:prstGeom prst="wedgeRoundRectCallout">
              <a:avLst>
                <a:gd fmla="val -20833" name="adj1"/>
                <a:gd fmla="val 62500" name="adj2"/>
                <a:gd fmla="val 0" name="adj3"/>
              </a:avLst>
            </a:prstGeom>
            <a:solidFill>
              <a:srgbClr val="EA9999"/>
            </a:solidFill>
            <a:ln cap="flat" cmpd="sng" w="1905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2000">
                <a:solidFill>
                  <a:srgbClr val="FFFFFF"/>
                </a:solidFill>
                <a:latin typeface="Calibri"/>
                <a:ea typeface="Calibri"/>
                <a:cs typeface="Calibri"/>
                <a:sym typeface="Calibri"/>
              </a:endParaRPr>
            </a:p>
            <a:p>
              <a:pPr indent="0" lvl="0" marL="0" rtl="0" algn="ctr">
                <a:spcBef>
                  <a:spcPts val="0"/>
                </a:spcBef>
                <a:spcAft>
                  <a:spcPts val="0"/>
                </a:spcAft>
                <a:buNone/>
              </a:pPr>
              <a:r>
                <a:rPr b="1" lang="en-GB" sz="2000">
                  <a:solidFill>
                    <a:srgbClr val="FFFFFF"/>
                  </a:solidFill>
                  <a:latin typeface="Calibri"/>
                  <a:ea typeface="Calibri"/>
                  <a:cs typeface="Calibri"/>
                  <a:sym typeface="Calibri"/>
                </a:rPr>
                <a:t>Local </a:t>
              </a:r>
              <a:r>
                <a:rPr lang="en-GB" sz="2000">
                  <a:solidFill>
                    <a:srgbClr val="FFFFFF"/>
                  </a:solidFill>
                  <a:latin typeface="Calibri"/>
                  <a:ea typeface="Calibri"/>
                  <a:cs typeface="Calibri"/>
                  <a:sym typeface="Calibri"/>
                </a:rPr>
                <a:t>Deployment</a:t>
              </a:r>
              <a:endParaRPr sz="2000">
                <a:solidFill>
                  <a:srgbClr val="FFFFFF"/>
                </a:solidFill>
                <a:latin typeface="Calibri"/>
                <a:ea typeface="Calibri"/>
                <a:cs typeface="Calibri"/>
                <a:sym typeface="Calibri"/>
              </a:endParaRPr>
            </a:p>
          </p:txBody>
        </p:sp>
      </p:grpSp>
      <p:sp>
        <p:nvSpPr>
          <p:cNvPr id="196" name="Google Shape;196;p26"/>
          <p:cNvSpPr txBox="1"/>
          <p:nvPr>
            <p:ph type="title"/>
          </p:nvPr>
        </p:nvSpPr>
        <p:spPr>
          <a:xfrm>
            <a:off x="-86850" y="68650"/>
            <a:ext cx="9341400" cy="572700"/>
          </a:xfrm>
          <a:prstGeom prst="rect">
            <a:avLst/>
          </a:prstGeom>
          <a:solidFill>
            <a:schemeClr val="accent3"/>
          </a:solidFill>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FFFFF"/>
                </a:solidFill>
                <a:latin typeface="Calibri"/>
                <a:ea typeface="Calibri"/>
                <a:cs typeface="Calibri"/>
                <a:sym typeface="Calibri"/>
              </a:rPr>
              <a:t>    </a:t>
            </a:r>
            <a:r>
              <a:rPr lang="en-GB">
                <a:solidFill>
                  <a:srgbClr val="FFFFFF"/>
                </a:solidFill>
                <a:latin typeface="Calibri"/>
                <a:ea typeface="Calibri"/>
                <a:cs typeface="Calibri"/>
                <a:sym typeface="Calibri"/>
              </a:rPr>
              <a:t>CRM Deployment M</a:t>
            </a:r>
            <a:r>
              <a:rPr lang="en-GB">
                <a:solidFill>
                  <a:srgbClr val="FFFFFF"/>
                </a:solidFill>
                <a:latin typeface="Calibri"/>
                <a:ea typeface="Calibri"/>
                <a:cs typeface="Calibri"/>
                <a:sym typeface="Calibri"/>
              </a:rPr>
              <a:t>odalities</a:t>
            </a:r>
            <a:endParaRPr>
              <a:solidFill>
                <a:srgbClr val="FFFFFF"/>
              </a:solidFill>
              <a:latin typeface="Calibri"/>
              <a:ea typeface="Calibri"/>
              <a:cs typeface="Calibri"/>
              <a:sym typeface="Calibri"/>
            </a:endParaRPr>
          </a:p>
        </p:txBody>
      </p:sp>
      <p:pic>
        <p:nvPicPr>
          <p:cNvPr id="197" name="Google Shape;197;p26"/>
          <p:cNvPicPr preferRelativeResize="0"/>
          <p:nvPr/>
        </p:nvPicPr>
        <p:blipFill>
          <a:blip r:embed="rId3">
            <a:alphaModFix/>
          </a:blip>
          <a:stretch>
            <a:fillRect/>
          </a:stretch>
        </p:blipFill>
        <p:spPr>
          <a:xfrm>
            <a:off x="6056187" y="966187"/>
            <a:ext cx="755450" cy="755450"/>
          </a:xfrm>
          <a:prstGeom prst="rect">
            <a:avLst/>
          </a:prstGeom>
          <a:noFill/>
          <a:ln>
            <a:noFill/>
          </a:ln>
        </p:spPr>
      </p:pic>
      <p:pic>
        <p:nvPicPr>
          <p:cNvPr id="198" name="Google Shape;198;p26"/>
          <p:cNvPicPr preferRelativeResize="0"/>
          <p:nvPr/>
        </p:nvPicPr>
        <p:blipFill>
          <a:blip r:embed="rId4">
            <a:alphaModFix/>
          </a:blip>
          <a:stretch>
            <a:fillRect/>
          </a:stretch>
        </p:blipFill>
        <p:spPr>
          <a:xfrm>
            <a:off x="2516125" y="1110150"/>
            <a:ext cx="467525" cy="467525"/>
          </a:xfrm>
          <a:prstGeom prst="rect">
            <a:avLst/>
          </a:prstGeom>
          <a:noFill/>
          <a:ln>
            <a:noFill/>
          </a:ln>
        </p:spPr>
      </p:pic>
      <p:pic>
        <p:nvPicPr>
          <p:cNvPr id="199" name="Google Shape;199;p26"/>
          <p:cNvPicPr preferRelativeResize="0"/>
          <p:nvPr/>
        </p:nvPicPr>
        <p:blipFill>
          <a:blip r:embed="rId5">
            <a:alphaModFix/>
          </a:blip>
          <a:stretch>
            <a:fillRect/>
          </a:stretch>
        </p:blipFill>
        <p:spPr>
          <a:xfrm>
            <a:off x="1480896" y="2571746"/>
            <a:ext cx="254400" cy="253125"/>
          </a:xfrm>
          <a:prstGeom prst="rect">
            <a:avLst/>
          </a:prstGeom>
          <a:noFill/>
          <a:ln>
            <a:noFill/>
          </a:ln>
        </p:spPr>
      </p:pic>
      <p:pic>
        <p:nvPicPr>
          <p:cNvPr id="200" name="Google Shape;200;p26"/>
          <p:cNvPicPr preferRelativeResize="0"/>
          <p:nvPr/>
        </p:nvPicPr>
        <p:blipFill>
          <a:blip r:embed="rId5">
            <a:alphaModFix/>
          </a:blip>
          <a:stretch>
            <a:fillRect/>
          </a:stretch>
        </p:blipFill>
        <p:spPr>
          <a:xfrm>
            <a:off x="5187002" y="2502501"/>
            <a:ext cx="254400" cy="253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1000"/>
                                        <p:tgtEl>
                                          <p:spTgt spid="1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1000"/>
                                        <p:tgtEl>
                                          <p:spTgt spid="1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4" name="Shape 204"/>
        <p:cNvGrpSpPr/>
        <p:nvPr/>
      </p:nvGrpSpPr>
      <p:grpSpPr>
        <a:xfrm>
          <a:off x="0" y="0"/>
          <a:ext cx="0" cy="0"/>
          <a:chOff x="0" y="0"/>
          <a:chExt cx="0" cy="0"/>
        </a:xfrm>
      </p:grpSpPr>
      <p:sp>
        <p:nvSpPr>
          <p:cNvPr id="205" name="Google Shape;205;p27"/>
          <p:cNvSpPr txBox="1"/>
          <p:nvPr>
            <p:ph idx="1" type="body"/>
          </p:nvPr>
        </p:nvSpPr>
        <p:spPr>
          <a:xfrm>
            <a:off x="311700" y="1152475"/>
            <a:ext cx="38820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b="1" lang="en-GB"/>
              <a:t>Communication</a:t>
            </a:r>
            <a:r>
              <a:rPr lang="en-GB"/>
              <a:t> Problem</a:t>
            </a:r>
            <a:endParaRPr/>
          </a:p>
          <a:p>
            <a:pPr indent="-317500" lvl="1" marL="914400" rtl="0" algn="l">
              <a:spcBef>
                <a:spcPts val="0"/>
              </a:spcBef>
              <a:spcAft>
                <a:spcPts val="0"/>
              </a:spcAft>
              <a:buSzPts val="1400"/>
              <a:buAutoNum type="alphaLcPeriod"/>
            </a:pPr>
            <a:r>
              <a:rPr lang="en-GB"/>
              <a:t>Using </a:t>
            </a:r>
            <a:r>
              <a:rPr b="1" lang="en-GB"/>
              <a:t>Email</a:t>
            </a:r>
            <a:endParaRPr b="1"/>
          </a:p>
          <a:p>
            <a:pPr indent="-317500" lvl="1" marL="914400" rtl="0" algn="l">
              <a:lnSpc>
                <a:spcPct val="200000"/>
              </a:lnSpc>
              <a:spcBef>
                <a:spcPts val="0"/>
              </a:spcBef>
              <a:spcAft>
                <a:spcPts val="0"/>
              </a:spcAft>
              <a:buSzPts val="1400"/>
              <a:buAutoNum type="alphaLcPeriod"/>
            </a:pPr>
            <a:r>
              <a:rPr b="1" lang="en-GB"/>
              <a:t>Latency</a:t>
            </a:r>
            <a:r>
              <a:rPr lang="en-GB"/>
              <a:t> of Communication</a:t>
            </a:r>
            <a:endParaRPr/>
          </a:p>
          <a:p>
            <a:pPr indent="-342900" lvl="0" marL="457200" rtl="0" algn="l">
              <a:spcBef>
                <a:spcPts val="0"/>
              </a:spcBef>
              <a:spcAft>
                <a:spcPts val="0"/>
              </a:spcAft>
              <a:buSzPts val="1800"/>
              <a:buAutoNum type="arabicPeriod"/>
            </a:pPr>
            <a:r>
              <a:rPr b="1" lang="en-GB"/>
              <a:t>Small and Medium</a:t>
            </a:r>
            <a:r>
              <a:rPr lang="en-GB"/>
              <a:t> Enterprise</a:t>
            </a:r>
            <a:endParaRPr/>
          </a:p>
          <a:p>
            <a:pPr indent="-317500" lvl="1" marL="914400" rtl="0" algn="l">
              <a:spcBef>
                <a:spcPts val="0"/>
              </a:spcBef>
              <a:spcAft>
                <a:spcPts val="0"/>
              </a:spcAft>
              <a:buSzPts val="1400"/>
              <a:buAutoNum type="alphaLcPeriod"/>
            </a:pPr>
            <a:r>
              <a:rPr b="1" lang="en-GB"/>
              <a:t>Limited</a:t>
            </a:r>
            <a:r>
              <a:rPr lang="en-GB"/>
              <a:t> </a:t>
            </a:r>
            <a:r>
              <a:rPr b="1" lang="en-GB"/>
              <a:t>Funding</a:t>
            </a:r>
            <a:endParaRPr b="1"/>
          </a:p>
          <a:p>
            <a:pPr indent="-317500" lvl="1" marL="914400" rtl="0" algn="l">
              <a:spcBef>
                <a:spcPts val="0"/>
              </a:spcBef>
              <a:spcAft>
                <a:spcPts val="0"/>
              </a:spcAft>
              <a:buSzPts val="1400"/>
              <a:buAutoNum type="alphaLcPeriod"/>
            </a:pPr>
            <a:r>
              <a:rPr b="1" lang="en-GB"/>
              <a:t>Lack</a:t>
            </a:r>
            <a:r>
              <a:rPr lang="en-GB"/>
              <a:t> of Technical team</a:t>
            </a:r>
            <a:endParaRPr/>
          </a:p>
        </p:txBody>
      </p:sp>
      <p:sp>
        <p:nvSpPr>
          <p:cNvPr id="206" name="Google Shape;206;p27"/>
          <p:cNvSpPr txBox="1"/>
          <p:nvPr>
            <p:ph type="title"/>
          </p:nvPr>
        </p:nvSpPr>
        <p:spPr>
          <a:xfrm>
            <a:off x="-86850" y="68650"/>
            <a:ext cx="9341400" cy="572700"/>
          </a:xfrm>
          <a:prstGeom prst="rect">
            <a:avLst/>
          </a:prstGeom>
          <a:solidFill>
            <a:schemeClr val="accent3"/>
          </a:solidFill>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FFFFF"/>
                </a:solidFill>
                <a:latin typeface="Calibri"/>
                <a:ea typeface="Calibri"/>
                <a:cs typeface="Calibri"/>
                <a:sym typeface="Calibri"/>
              </a:rPr>
              <a:t>    CRM Deployment Solution</a:t>
            </a:r>
            <a:endParaRPr>
              <a:solidFill>
                <a:srgbClr val="FFFFFF"/>
              </a:solidFill>
              <a:latin typeface="Calibri"/>
              <a:ea typeface="Calibri"/>
              <a:cs typeface="Calibri"/>
              <a:sym typeface="Calibri"/>
            </a:endParaRPr>
          </a:p>
        </p:txBody>
      </p:sp>
      <p:grpSp>
        <p:nvGrpSpPr>
          <p:cNvPr id="207" name="Google Shape;207;p27"/>
          <p:cNvGrpSpPr/>
          <p:nvPr/>
        </p:nvGrpSpPr>
        <p:grpSpPr>
          <a:xfrm>
            <a:off x="4906675" y="847327"/>
            <a:ext cx="3017938" cy="4037804"/>
            <a:chOff x="976450" y="718538"/>
            <a:chExt cx="2695550" cy="4063813"/>
          </a:xfrm>
        </p:grpSpPr>
        <p:sp>
          <p:nvSpPr>
            <p:cNvPr id="208" name="Google Shape;208;p27"/>
            <p:cNvSpPr/>
            <p:nvPr/>
          </p:nvSpPr>
          <p:spPr>
            <a:xfrm>
              <a:off x="976500" y="1203350"/>
              <a:ext cx="2695500" cy="3579000"/>
            </a:xfrm>
            <a:prstGeom prst="roundRect">
              <a:avLst>
                <a:gd fmla="val 16667" name="adj"/>
              </a:avLst>
            </a:prstGeom>
            <a:solidFill>
              <a:srgbClr val="E06666"/>
            </a:solidFill>
            <a:ln cap="flat" cmpd="sng" w="19050">
              <a:solidFill>
                <a:srgbClr val="66666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GB">
                  <a:latin typeface="Calibri"/>
                  <a:ea typeface="Calibri"/>
                  <a:cs typeface="Calibri"/>
                  <a:sym typeface="Calibri"/>
                </a:rPr>
                <a:t>  </a:t>
              </a:r>
              <a:r>
                <a:rPr lang="en-GB" sz="1600">
                  <a:latin typeface="Calibri"/>
                  <a:ea typeface="Calibri"/>
                  <a:cs typeface="Calibri"/>
                  <a:sym typeface="Calibri"/>
                </a:rPr>
                <a:t>  </a:t>
              </a:r>
              <a:r>
                <a:rPr lang="en-GB" sz="2000">
                  <a:solidFill>
                    <a:srgbClr val="FFFFFF"/>
                  </a:solidFill>
                  <a:latin typeface="Calibri"/>
                  <a:ea typeface="Calibri"/>
                  <a:cs typeface="Calibri"/>
                  <a:sym typeface="Calibri"/>
                </a:rPr>
                <a:t>Pros:</a:t>
              </a:r>
              <a:endParaRPr sz="2000">
                <a:solidFill>
                  <a:srgbClr val="FFFFFF"/>
                </a:solidFill>
                <a:latin typeface="Calibri"/>
                <a:ea typeface="Calibri"/>
                <a:cs typeface="Calibri"/>
                <a:sym typeface="Calibri"/>
              </a:endParaRPr>
            </a:p>
            <a:p>
              <a:pPr indent="-342900" lvl="0" marL="457200" rtl="0" algn="l">
                <a:spcBef>
                  <a:spcPts val="0"/>
                </a:spcBef>
                <a:spcAft>
                  <a:spcPts val="0"/>
                </a:spcAft>
                <a:buClr>
                  <a:srgbClr val="FFFFFF"/>
                </a:buClr>
                <a:buSzPts val="1800"/>
                <a:buFont typeface="Calibri"/>
                <a:buChar char="-"/>
              </a:pPr>
              <a:r>
                <a:rPr lang="en-GB" sz="1800">
                  <a:solidFill>
                    <a:srgbClr val="FFFFFF"/>
                  </a:solidFill>
                  <a:latin typeface="Calibri"/>
                  <a:ea typeface="Calibri"/>
                  <a:cs typeface="Calibri"/>
                  <a:sym typeface="Calibri"/>
                </a:rPr>
                <a:t>High Security</a:t>
              </a:r>
              <a:endParaRPr sz="1800">
                <a:solidFill>
                  <a:srgbClr val="FFFFFF"/>
                </a:solidFill>
                <a:latin typeface="Calibri"/>
                <a:ea typeface="Calibri"/>
                <a:cs typeface="Calibri"/>
                <a:sym typeface="Calibri"/>
              </a:endParaRPr>
            </a:p>
            <a:p>
              <a:pPr indent="-342900" lvl="0" marL="457200" rtl="0" algn="l">
                <a:spcBef>
                  <a:spcPts val="0"/>
                </a:spcBef>
                <a:spcAft>
                  <a:spcPts val="0"/>
                </a:spcAft>
                <a:buClr>
                  <a:srgbClr val="FFFFFF"/>
                </a:buClr>
                <a:buSzPts val="1800"/>
                <a:buFont typeface="Calibri"/>
                <a:buChar char="-"/>
              </a:pPr>
              <a:r>
                <a:rPr lang="en-GB" sz="1800">
                  <a:solidFill>
                    <a:srgbClr val="FFFFFF"/>
                  </a:solidFill>
                  <a:latin typeface="Calibri"/>
                  <a:ea typeface="Calibri"/>
                  <a:cs typeface="Calibri"/>
                  <a:sym typeface="Calibri"/>
                </a:rPr>
                <a:t>Data </a:t>
              </a:r>
              <a:r>
                <a:rPr b="1" lang="en-GB" sz="1800">
                  <a:solidFill>
                    <a:srgbClr val="FFFFFF"/>
                  </a:solidFill>
                  <a:latin typeface="Calibri"/>
                  <a:ea typeface="Calibri"/>
                  <a:cs typeface="Calibri"/>
                  <a:sym typeface="Calibri"/>
                </a:rPr>
                <a:t>Synchronization</a:t>
              </a:r>
              <a:endParaRPr b="1" sz="1800">
                <a:solidFill>
                  <a:srgbClr val="FFFFFF"/>
                </a:solidFill>
                <a:latin typeface="Calibri"/>
                <a:ea typeface="Calibri"/>
                <a:cs typeface="Calibri"/>
                <a:sym typeface="Calibri"/>
              </a:endParaRPr>
            </a:p>
            <a:p>
              <a:pPr indent="-342900" lvl="0" marL="457200" rtl="0" algn="l">
                <a:spcBef>
                  <a:spcPts val="0"/>
                </a:spcBef>
                <a:spcAft>
                  <a:spcPts val="0"/>
                </a:spcAft>
                <a:buClr>
                  <a:srgbClr val="FFFFFF"/>
                </a:buClr>
                <a:buSzPts val="1800"/>
                <a:buFont typeface="Calibri"/>
                <a:buChar char="-"/>
              </a:pPr>
              <a:r>
                <a:rPr b="1" lang="en-GB" sz="1800">
                  <a:solidFill>
                    <a:srgbClr val="FFFFFF"/>
                  </a:solidFill>
                  <a:latin typeface="Calibri"/>
                  <a:ea typeface="Calibri"/>
                  <a:cs typeface="Calibri"/>
                  <a:sym typeface="Calibri"/>
                </a:rPr>
                <a:t>Zero Maintenance</a:t>
              </a:r>
              <a:endParaRPr b="1" sz="1800">
                <a:solidFill>
                  <a:srgbClr val="FFFFFF"/>
                </a:solidFill>
                <a:latin typeface="Calibri"/>
                <a:ea typeface="Calibri"/>
                <a:cs typeface="Calibri"/>
                <a:sym typeface="Calibri"/>
              </a:endParaRPr>
            </a:p>
            <a:p>
              <a:pPr indent="-342900" lvl="0" marL="457200" rtl="0" algn="l">
                <a:spcBef>
                  <a:spcPts val="0"/>
                </a:spcBef>
                <a:spcAft>
                  <a:spcPts val="0"/>
                </a:spcAft>
                <a:buClr>
                  <a:srgbClr val="FFFFFF"/>
                </a:buClr>
                <a:buSzPts val="1800"/>
                <a:buFont typeface="Calibri"/>
                <a:buChar char="-"/>
              </a:pPr>
              <a:r>
                <a:rPr b="1" lang="en-GB" sz="1800">
                  <a:solidFill>
                    <a:srgbClr val="FFFFFF"/>
                  </a:solidFill>
                  <a:latin typeface="Calibri"/>
                  <a:ea typeface="Calibri"/>
                  <a:cs typeface="Calibri"/>
                  <a:sym typeface="Calibri"/>
                </a:rPr>
                <a:t>Low Cost</a:t>
              </a:r>
              <a:endParaRPr b="1" sz="1800">
                <a:solidFill>
                  <a:srgbClr val="FFFFFF"/>
                </a:solidFill>
                <a:latin typeface="Calibri"/>
                <a:ea typeface="Calibri"/>
                <a:cs typeface="Calibri"/>
                <a:sym typeface="Calibri"/>
              </a:endParaRPr>
            </a:p>
            <a:p>
              <a:pPr indent="0" lvl="0" marL="0" rtl="0" algn="l">
                <a:spcBef>
                  <a:spcPts val="0"/>
                </a:spcBef>
                <a:spcAft>
                  <a:spcPts val="0"/>
                </a:spcAft>
                <a:buNone/>
              </a:pPr>
              <a:r>
                <a:rPr lang="en-GB" sz="1600">
                  <a:solidFill>
                    <a:srgbClr val="FFFFFF"/>
                  </a:solidFill>
                  <a:latin typeface="Calibri"/>
                  <a:ea typeface="Calibri"/>
                  <a:cs typeface="Calibri"/>
                  <a:sym typeface="Calibri"/>
                </a:rPr>
                <a:t>    </a:t>
              </a:r>
              <a:endParaRPr sz="1600">
                <a:solidFill>
                  <a:srgbClr val="FFFFFF"/>
                </a:solidFill>
                <a:latin typeface="Calibri"/>
                <a:ea typeface="Calibri"/>
                <a:cs typeface="Calibri"/>
                <a:sym typeface="Calibri"/>
              </a:endParaRPr>
            </a:p>
          </p:txBody>
        </p:sp>
        <p:sp>
          <p:nvSpPr>
            <p:cNvPr id="209" name="Google Shape;209;p27"/>
            <p:cNvSpPr/>
            <p:nvPr/>
          </p:nvSpPr>
          <p:spPr>
            <a:xfrm>
              <a:off x="976450" y="718538"/>
              <a:ext cx="2695500" cy="1338900"/>
            </a:xfrm>
            <a:prstGeom prst="wedgeRoundRectCallout">
              <a:avLst>
                <a:gd fmla="val -20833" name="adj1"/>
                <a:gd fmla="val 62500" name="adj2"/>
                <a:gd fmla="val 0" name="adj3"/>
              </a:avLst>
            </a:prstGeom>
            <a:solidFill>
              <a:srgbClr val="E06666"/>
            </a:solidFill>
            <a:ln cap="flat" cmpd="sng" w="1905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2400">
                <a:solidFill>
                  <a:srgbClr val="FFFFFF"/>
                </a:solidFill>
                <a:latin typeface="Calibri"/>
                <a:ea typeface="Calibri"/>
                <a:cs typeface="Calibri"/>
                <a:sym typeface="Calibri"/>
              </a:endParaRPr>
            </a:p>
            <a:p>
              <a:pPr indent="0" lvl="0" marL="0" rtl="0" algn="ctr">
                <a:spcBef>
                  <a:spcPts val="0"/>
                </a:spcBef>
                <a:spcAft>
                  <a:spcPts val="0"/>
                </a:spcAft>
                <a:buNone/>
              </a:pPr>
              <a:r>
                <a:rPr b="1" lang="en-GB" sz="2400">
                  <a:solidFill>
                    <a:srgbClr val="FFFFFF"/>
                  </a:solidFill>
                  <a:latin typeface="Calibri"/>
                  <a:ea typeface="Calibri"/>
                  <a:cs typeface="Calibri"/>
                  <a:sym typeface="Calibri"/>
                </a:rPr>
                <a:t>Cloud </a:t>
              </a:r>
              <a:r>
                <a:rPr lang="en-GB" sz="2400">
                  <a:solidFill>
                    <a:srgbClr val="FFFFFF"/>
                  </a:solidFill>
                  <a:latin typeface="Calibri"/>
                  <a:ea typeface="Calibri"/>
                  <a:cs typeface="Calibri"/>
                  <a:sym typeface="Calibri"/>
                </a:rPr>
                <a:t>Deployment</a:t>
              </a:r>
              <a:endParaRPr sz="2400">
                <a:solidFill>
                  <a:srgbClr val="FFFFFF"/>
                </a:solidFill>
                <a:latin typeface="Calibri"/>
                <a:ea typeface="Calibri"/>
                <a:cs typeface="Calibri"/>
                <a:sym typeface="Calibri"/>
              </a:endParaRPr>
            </a:p>
          </p:txBody>
        </p:sp>
      </p:grpSp>
      <p:pic>
        <p:nvPicPr>
          <p:cNvPr id="210" name="Google Shape;210;p27"/>
          <p:cNvPicPr preferRelativeResize="0"/>
          <p:nvPr/>
        </p:nvPicPr>
        <p:blipFill>
          <a:blip r:embed="rId3">
            <a:alphaModFix/>
          </a:blip>
          <a:stretch>
            <a:fillRect/>
          </a:stretch>
        </p:blipFill>
        <p:spPr>
          <a:xfrm>
            <a:off x="6037912" y="836237"/>
            <a:ext cx="755450" cy="755450"/>
          </a:xfrm>
          <a:prstGeom prst="rect">
            <a:avLst/>
          </a:prstGeom>
          <a:noFill/>
          <a:ln>
            <a:noFill/>
          </a:ln>
        </p:spPr>
      </p:pic>
      <p:pic>
        <p:nvPicPr>
          <p:cNvPr id="211" name="Google Shape;211;p27"/>
          <p:cNvPicPr preferRelativeResize="0"/>
          <p:nvPr/>
        </p:nvPicPr>
        <p:blipFill>
          <a:blip r:embed="rId4">
            <a:alphaModFix/>
          </a:blip>
          <a:stretch>
            <a:fillRect/>
          </a:stretch>
        </p:blipFill>
        <p:spPr>
          <a:xfrm>
            <a:off x="5016327" y="2434887"/>
            <a:ext cx="254400" cy="2531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5" name="Shape 215"/>
        <p:cNvGrpSpPr/>
        <p:nvPr/>
      </p:nvGrpSpPr>
      <p:grpSpPr>
        <a:xfrm>
          <a:off x="0" y="0"/>
          <a:ext cx="0" cy="0"/>
          <a:chOff x="0" y="0"/>
          <a:chExt cx="0" cy="0"/>
        </a:xfrm>
      </p:grpSpPr>
      <p:grpSp>
        <p:nvGrpSpPr>
          <p:cNvPr id="216" name="Google Shape;216;p28"/>
          <p:cNvGrpSpPr/>
          <p:nvPr/>
        </p:nvGrpSpPr>
        <p:grpSpPr>
          <a:xfrm>
            <a:off x="657057" y="1906950"/>
            <a:ext cx="7829880" cy="1643400"/>
            <a:chOff x="657057" y="1602150"/>
            <a:chExt cx="7829880" cy="1643400"/>
          </a:xfrm>
        </p:grpSpPr>
        <p:sp>
          <p:nvSpPr>
            <p:cNvPr id="217" name="Google Shape;217;p28"/>
            <p:cNvSpPr/>
            <p:nvPr/>
          </p:nvSpPr>
          <p:spPr>
            <a:xfrm>
              <a:off x="657057" y="2203950"/>
              <a:ext cx="1602300" cy="350700"/>
            </a:xfrm>
            <a:prstGeom prst="chevron">
              <a:avLst>
                <a:gd fmla="val 50000" name="adj"/>
              </a:avLst>
            </a:prstGeom>
            <a:solidFill>
              <a:srgbClr val="F6B2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Calibri"/>
                  <a:ea typeface="Calibri"/>
                  <a:cs typeface="Calibri"/>
                  <a:sym typeface="Calibri"/>
                </a:rPr>
                <a:t>2 Weeks</a:t>
              </a:r>
              <a:endParaRPr>
                <a:solidFill>
                  <a:srgbClr val="FFFFFF"/>
                </a:solidFill>
                <a:latin typeface="Calibri"/>
                <a:ea typeface="Calibri"/>
                <a:cs typeface="Calibri"/>
                <a:sym typeface="Calibri"/>
              </a:endParaRPr>
            </a:p>
          </p:txBody>
        </p:sp>
        <p:sp>
          <p:nvSpPr>
            <p:cNvPr id="218" name="Google Shape;218;p28"/>
            <p:cNvSpPr/>
            <p:nvPr/>
          </p:nvSpPr>
          <p:spPr>
            <a:xfrm>
              <a:off x="2211782" y="2203950"/>
              <a:ext cx="1602300" cy="350700"/>
            </a:xfrm>
            <a:prstGeom prst="chevron">
              <a:avLst>
                <a:gd fmla="val 50000" name="adj"/>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Calibri"/>
                  <a:ea typeface="Calibri"/>
                  <a:cs typeface="Calibri"/>
                  <a:sym typeface="Calibri"/>
                </a:rPr>
                <a:t>1 Week</a:t>
              </a:r>
              <a:endParaRPr>
                <a:solidFill>
                  <a:srgbClr val="FFFFFF"/>
                </a:solidFill>
                <a:latin typeface="Calibri"/>
                <a:ea typeface="Calibri"/>
                <a:cs typeface="Calibri"/>
                <a:sym typeface="Calibri"/>
              </a:endParaRPr>
            </a:p>
          </p:txBody>
        </p:sp>
        <p:sp>
          <p:nvSpPr>
            <p:cNvPr id="219" name="Google Shape;219;p28"/>
            <p:cNvSpPr/>
            <p:nvPr/>
          </p:nvSpPr>
          <p:spPr>
            <a:xfrm>
              <a:off x="3774288" y="2203950"/>
              <a:ext cx="1602300" cy="350700"/>
            </a:xfrm>
            <a:prstGeom prst="chevron">
              <a:avLst>
                <a:gd fmla="val 50000" name="adj"/>
              </a:avLst>
            </a:prstGeom>
            <a:solidFill>
              <a:srgbClr val="6FA8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Calibri"/>
                  <a:ea typeface="Calibri"/>
                  <a:cs typeface="Calibri"/>
                  <a:sym typeface="Calibri"/>
                </a:rPr>
                <a:t>4 Weeks</a:t>
              </a:r>
              <a:endParaRPr>
                <a:solidFill>
                  <a:srgbClr val="FFFFFF"/>
                </a:solidFill>
                <a:latin typeface="Calibri"/>
                <a:ea typeface="Calibri"/>
                <a:cs typeface="Calibri"/>
                <a:sym typeface="Calibri"/>
              </a:endParaRPr>
            </a:p>
          </p:txBody>
        </p:sp>
        <p:sp>
          <p:nvSpPr>
            <p:cNvPr id="220" name="Google Shape;220;p28"/>
            <p:cNvSpPr/>
            <p:nvPr/>
          </p:nvSpPr>
          <p:spPr>
            <a:xfrm>
              <a:off x="5329013" y="2203950"/>
              <a:ext cx="1602300" cy="350700"/>
            </a:xfrm>
            <a:prstGeom prst="chevron">
              <a:avLst>
                <a:gd fmla="val 50000" name="adj"/>
              </a:avLst>
            </a:prstGeom>
            <a:solidFill>
              <a:srgbClr val="93C4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Calibri"/>
                  <a:ea typeface="Calibri"/>
                  <a:cs typeface="Calibri"/>
                  <a:sym typeface="Calibri"/>
                </a:rPr>
                <a:t>4 Weeks</a:t>
              </a:r>
              <a:endParaRPr>
                <a:solidFill>
                  <a:srgbClr val="FFFFFF"/>
                </a:solidFill>
                <a:latin typeface="Calibri"/>
                <a:ea typeface="Calibri"/>
                <a:cs typeface="Calibri"/>
                <a:sym typeface="Calibri"/>
              </a:endParaRPr>
            </a:p>
          </p:txBody>
        </p:sp>
        <p:sp>
          <p:nvSpPr>
            <p:cNvPr id="221" name="Google Shape;221;p28"/>
            <p:cNvSpPr/>
            <p:nvPr/>
          </p:nvSpPr>
          <p:spPr>
            <a:xfrm>
              <a:off x="6884638" y="2203950"/>
              <a:ext cx="1602300" cy="350700"/>
            </a:xfrm>
            <a:prstGeom prst="chevron">
              <a:avLst>
                <a:gd fmla="val 50000" name="adj"/>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Calibri"/>
                  <a:ea typeface="Calibri"/>
                  <a:cs typeface="Calibri"/>
                  <a:sym typeface="Calibri"/>
                </a:rPr>
                <a:t>TBC</a:t>
              </a:r>
              <a:endParaRPr>
                <a:solidFill>
                  <a:srgbClr val="FFFFFF"/>
                </a:solidFill>
                <a:latin typeface="Calibri"/>
                <a:ea typeface="Calibri"/>
                <a:cs typeface="Calibri"/>
                <a:sym typeface="Calibri"/>
              </a:endParaRPr>
            </a:p>
          </p:txBody>
        </p:sp>
        <p:cxnSp>
          <p:nvCxnSpPr>
            <p:cNvPr id="222" name="Google Shape;222;p28"/>
            <p:cNvCxnSpPr/>
            <p:nvPr/>
          </p:nvCxnSpPr>
          <p:spPr>
            <a:xfrm rot="5400000">
              <a:off x="1131788" y="2878350"/>
              <a:ext cx="652800" cy="5400"/>
            </a:xfrm>
            <a:prstGeom prst="curvedConnector3">
              <a:avLst>
                <a:gd fmla="val 50000" name="adj1"/>
              </a:avLst>
            </a:prstGeom>
            <a:noFill/>
            <a:ln cap="flat" cmpd="sng" w="19050">
              <a:solidFill>
                <a:srgbClr val="F6B26B"/>
              </a:solidFill>
              <a:prstDash val="dash"/>
              <a:round/>
              <a:headEnd len="med" w="med" type="oval"/>
              <a:tailEnd len="med" w="med" type="triangle"/>
            </a:ln>
          </p:spPr>
        </p:cxnSp>
        <p:cxnSp>
          <p:nvCxnSpPr>
            <p:cNvPr id="223" name="Google Shape;223;p28"/>
            <p:cNvCxnSpPr/>
            <p:nvPr/>
          </p:nvCxnSpPr>
          <p:spPr>
            <a:xfrm rot="-5400000">
              <a:off x="2715913" y="1901550"/>
              <a:ext cx="601800" cy="3000"/>
            </a:xfrm>
            <a:prstGeom prst="curvedConnector3">
              <a:avLst>
                <a:gd fmla="val 50000" name="adj1"/>
              </a:avLst>
            </a:prstGeom>
            <a:noFill/>
            <a:ln cap="flat" cmpd="sng" w="19050">
              <a:solidFill>
                <a:srgbClr val="E06666"/>
              </a:solidFill>
              <a:prstDash val="dash"/>
              <a:round/>
              <a:headEnd len="med" w="med" type="oval"/>
              <a:tailEnd len="med" w="med" type="triangle"/>
            </a:ln>
          </p:spPr>
        </p:cxnSp>
        <p:cxnSp>
          <p:nvCxnSpPr>
            <p:cNvPr id="224" name="Google Shape;224;p28"/>
            <p:cNvCxnSpPr>
              <a:stCxn id="219" idx="2"/>
            </p:cNvCxnSpPr>
            <p:nvPr/>
          </p:nvCxnSpPr>
          <p:spPr>
            <a:xfrm flipH="1" rot="-5400000">
              <a:off x="4160463" y="2881950"/>
              <a:ext cx="657000" cy="2400"/>
            </a:xfrm>
            <a:prstGeom prst="curvedConnector3">
              <a:avLst>
                <a:gd fmla="val 50000" name="adj1"/>
              </a:avLst>
            </a:prstGeom>
            <a:noFill/>
            <a:ln cap="flat" cmpd="sng" w="19050">
              <a:solidFill>
                <a:srgbClr val="6FA8DC"/>
              </a:solidFill>
              <a:prstDash val="dash"/>
              <a:round/>
              <a:headEnd len="med" w="med" type="oval"/>
              <a:tailEnd len="med" w="med" type="triangle"/>
            </a:ln>
          </p:spPr>
        </p:cxnSp>
        <p:cxnSp>
          <p:nvCxnSpPr>
            <p:cNvPr id="225" name="Google Shape;225;p28"/>
            <p:cNvCxnSpPr>
              <a:stCxn id="221" idx="2"/>
            </p:cNvCxnSpPr>
            <p:nvPr/>
          </p:nvCxnSpPr>
          <p:spPr>
            <a:xfrm flipH="1" rot="-5400000">
              <a:off x="7256413" y="2896350"/>
              <a:ext cx="690900" cy="7500"/>
            </a:xfrm>
            <a:prstGeom prst="curvedConnector3">
              <a:avLst>
                <a:gd fmla="val 50000" name="adj1"/>
              </a:avLst>
            </a:prstGeom>
            <a:noFill/>
            <a:ln cap="flat" cmpd="sng" w="19050">
              <a:solidFill>
                <a:srgbClr val="999999"/>
              </a:solidFill>
              <a:prstDash val="dash"/>
              <a:round/>
              <a:headEnd len="med" w="med" type="oval"/>
              <a:tailEnd len="med" w="med" type="triangle"/>
            </a:ln>
          </p:spPr>
        </p:cxnSp>
        <p:cxnSp>
          <p:nvCxnSpPr>
            <p:cNvPr id="226" name="Google Shape;226;p28"/>
            <p:cNvCxnSpPr/>
            <p:nvPr/>
          </p:nvCxnSpPr>
          <p:spPr>
            <a:xfrm rot="-5400000">
              <a:off x="5829263" y="1901550"/>
              <a:ext cx="601800" cy="3000"/>
            </a:xfrm>
            <a:prstGeom prst="curvedConnector3">
              <a:avLst>
                <a:gd fmla="val 50000" name="adj1"/>
              </a:avLst>
            </a:prstGeom>
            <a:noFill/>
            <a:ln cap="flat" cmpd="sng" w="19050">
              <a:solidFill>
                <a:srgbClr val="93C47D"/>
              </a:solidFill>
              <a:prstDash val="dash"/>
              <a:round/>
              <a:headEnd len="med" w="med" type="oval"/>
              <a:tailEnd len="med" w="med" type="triangle"/>
            </a:ln>
          </p:spPr>
        </p:cxnSp>
      </p:grpSp>
      <p:pic>
        <p:nvPicPr>
          <p:cNvPr id="227" name="Google Shape;227;p28"/>
          <p:cNvPicPr preferRelativeResize="0"/>
          <p:nvPr/>
        </p:nvPicPr>
        <p:blipFill>
          <a:blip r:embed="rId3">
            <a:alphaModFix/>
          </a:blip>
          <a:stretch>
            <a:fillRect/>
          </a:stretch>
        </p:blipFill>
        <p:spPr>
          <a:xfrm>
            <a:off x="7338225" y="3559998"/>
            <a:ext cx="540000" cy="540000"/>
          </a:xfrm>
          <a:prstGeom prst="rect">
            <a:avLst/>
          </a:prstGeom>
          <a:noFill/>
          <a:ln>
            <a:noFill/>
          </a:ln>
        </p:spPr>
      </p:pic>
      <p:pic>
        <p:nvPicPr>
          <p:cNvPr id="228" name="Google Shape;228;p28"/>
          <p:cNvPicPr preferRelativeResize="0"/>
          <p:nvPr/>
        </p:nvPicPr>
        <p:blipFill>
          <a:blip r:embed="rId4">
            <a:alphaModFix/>
          </a:blip>
          <a:stretch>
            <a:fillRect/>
          </a:stretch>
        </p:blipFill>
        <p:spPr>
          <a:xfrm>
            <a:off x="4196851" y="3550350"/>
            <a:ext cx="540000" cy="540000"/>
          </a:xfrm>
          <a:prstGeom prst="rect">
            <a:avLst/>
          </a:prstGeom>
          <a:noFill/>
          <a:ln>
            <a:noFill/>
          </a:ln>
        </p:spPr>
      </p:pic>
      <p:pic>
        <p:nvPicPr>
          <p:cNvPr id="229" name="Google Shape;229;p28"/>
          <p:cNvPicPr preferRelativeResize="0"/>
          <p:nvPr/>
        </p:nvPicPr>
        <p:blipFill>
          <a:blip r:embed="rId5">
            <a:alphaModFix/>
          </a:blip>
          <a:stretch>
            <a:fillRect/>
          </a:stretch>
        </p:blipFill>
        <p:spPr>
          <a:xfrm>
            <a:off x="2739408" y="1337604"/>
            <a:ext cx="540000" cy="540000"/>
          </a:xfrm>
          <a:prstGeom prst="rect">
            <a:avLst/>
          </a:prstGeom>
          <a:noFill/>
          <a:ln>
            <a:noFill/>
          </a:ln>
        </p:spPr>
      </p:pic>
      <p:pic>
        <p:nvPicPr>
          <p:cNvPr id="230" name="Google Shape;230;p28"/>
          <p:cNvPicPr preferRelativeResize="0"/>
          <p:nvPr/>
        </p:nvPicPr>
        <p:blipFill>
          <a:blip r:embed="rId6">
            <a:alphaModFix/>
          </a:blip>
          <a:stretch>
            <a:fillRect/>
          </a:stretch>
        </p:blipFill>
        <p:spPr>
          <a:xfrm>
            <a:off x="5851721" y="1347250"/>
            <a:ext cx="540000" cy="540000"/>
          </a:xfrm>
          <a:prstGeom prst="rect">
            <a:avLst/>
          </a:prstGeom>
          <a:noFill/>
          <a:ln>
            <a:noFill/>
          </a:ln>
        </p:spPr>
      </p:pic>
      <p:pic>
        <p:nvPicPr>
          <p:cNvPr id="231" name="Google Shape;231;p28"/>
          <p:cNvPicPr preferRelativeResize="0"/>
          <p:nvPr/>
        </p:nvPicPr>
        <p:blipFill>
          <a:blip r:embed="rId7">
            <a:alphaModFix/>
          </a:blip>
          <a:stretch>
            <a:fillRect/>
          </a:stretch>
        </p:blipFill>
        <p:spPr>
          <a:xfrm>
            <a:off x="1161660" y="3525662"/>
            <a:ext cx="540000" cy="540000"/>
          </a:xfrm>
          <a:prstGeom prst="rect">
            <a:avLst/>
          </a:prstGeom>
          <a:noFill/>
          <a:ln>
            <a:noFill/>
          </a:ln>
        </p:spPr>
      </p:pic>
      <p:sp>
        <p:nvSpPr>
          <p:cNvPr id="232" name="Google Shape;232;p28"/>
          <p:cNvSpPr txBox="1"/>
          <p:nvPr/>
        </p:nvSpPr>
        <p:spPr>
          <a:xfrm>
            <a:off x="805400" y="1906825"/>
            <a:ext cx="1257000" cy="4032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Calibri"/>
                <a:ea typeface="Calibri"/>
                <a:cs typeface="Calibri"/>
                <a:sym typeface="Calibri"/>
              </a:rPr>
              <a:t>Planning</a:t>
            </a:r>
            <a:endParaRPr>
              <a:solidFill>
                <a:srgbClr val="FFFFFF"/>
              </a:solidFill>
              <a:latin typeface="Calibri"/>
              <a:ea typeface="Calibri"/>
              <a:cs typeface="Calibri"/>
              <a:sym typeface="Calibri"/>
            </a:endParaRPr>
          </a:p>
          <a:p>
            <a:pPr indent="0" lvl="0" marL="0" rtl="0" algn="ctr">
              <a:spcBef>
                <a:spcPts val="0"/>
              </a:spcBef>
              <a:spcAft>
                <a:spcPts val="0"/>
              </a:spcAft>
              <a:buNone/>
            </a:pPr>
            <a:r>
              <a:t/>
            </a:r>
            <a:endParaRPr>
              <a:solidFill>
                <a:srgbClr val="FFFFFF"/>
              </a:solidFill>
              <a:latin typeface="Calibri"/>
              <a:ea typeface="Calibri"/>
              <a:cs typeface="Calibri"/>
              <a:sym typeface="Calibri"/>
            </a:endParaRPr>
          </a:p>
          <a:p>
            <a:pPr indent="0" lvl="0" marL="0" rtl="0" algn="l">
              <a:spcBef>
                <a:spcPts val="0"/>
              </a:spcBef>
              <a:spcAft>
                <a:spcPts val="0"/>
              </a:spcAft>
              <a:buNone/>
            </a:pPr>
            <a:r>
              <a:t/>
            </a:r>
            <a:endParaRPr sz="1000">
              <a:solidFill>
                <a:srgbClr val="FFFFFF"/>
              </a:solidFill>
              <a:latin typeface="Calibri"/>
              <a:ea typeface="Calibri"/>
              <a:cs typeface="Calibri"/>
              <a:sym typeface="Calibri"/>
            </a:endParaRPr>
          </a:p>
        </p:txBody>
      </p:sp>
      <p:sp>
        <p:nvSpPr>
          <p:cNvPr id="233" name="Google Shape;233;p28"/>
          <p:cNvSpPr txBox="1"/>
          <p:nvPr/>
        </p:nvSpPr>
        <p:spPr>
          <a:xfrm>
            <a:off x="2480650" y="3122350"/>
            <a:ext cx="1057500" cy="4032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Calibri"/>
                <a:ea typeface="Calibri"/>
                <a:cs typeface="Calibri"/>
                <a:sym typeface="Calibri"/>
              </a:rPr>
              <a:t>Selecting</a:t>
            </a:r>
            <a:endParaRPr>
              <a:solidFill>
                <a:srgbClr val="FFFFFF"/>
              </a:solidFill>
              <a:latin typeface="Calibri"/>
              <a:ea typeface="Calibri"/>
              <a:cs typeface="Calibri"/>
              <a:sym typeface="Calibri"/>
            </a:endParaRPr>
          </a:p>
        </p:txBody>
      </p:sp>
      <p:sp>
        <p:nvSpPr>
          <p:cNvPr id="234" name="Google Shape;234;p28"/>
          <p:cNvSpPr txBox="1"/>
          <p:nvPr/>
        </p:nvSpPr>
        <p:spPr>
          <a:xfrm>
            <a:off x="3838350" y="1906950"/>
            <a:ext cx="1257000" cy="4032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Calibri"/>
                <a:ea typeface="Calibri"/>
                <a:cs typeface="Calibri"/>
                <a:sym typeface="Calibri"/>
              </a:rPr>
              <a:t>Deploying</a:t>
            </a:r>
            <a:endParaRPr>
              <a:solidFill>
                <a:srgbClr val="FFFFFF"/>
              </a:solidFill>
              <a:latin typeface="Calibri"/>
              <a:ea typeface="Calibri"/>
              <a:cs typeface="Calibri"/>
              <a:sym typeface="Calibri"/>
            </a:endParaRPr>
          </a:p>
        </p:txBody>
      </p:sp>
      <p:sp>
        <p:nvSpPr>
          <p:cNvPr id="235" name="Google Shape;235;p28"/>
          <p:cNvSpPr txBox="1"/>
          <p:nvPr/>
        </p:nvSpPr>
        <p:spPr>
          <a:xfrm>
            <a:off x="5493225" y="3122350"/>
            <a:ext cx="1257000" cy="4032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Calibri"/>
                <a:ea typeface="Calibri"/>
                <a:cs typeface="Calibri"/>
                <a:sym typeface="Calibri"/>
              </a:rPr>
              <a:t>Assessing</a:t>
            </a:r>
            <a:endParaRPr>
              <a:solidFill>
                <a:srgbClr val="FFFFFF"/>
              </a:solidFill>
              <a:latin typeface="Calibri"/>
              <a:ea typeface="Calibri"/>
              <a:cs typeface="Calibri"/>
              <a:sym typeface="Calibri"/>
            </a:endParaRPr>
          </a:p>
        </p:txBody>
      </p:sp>
      <p:sp>
        <p:nvSpPr>
          <p:cNvPr id="236" name="Google Shape;236;p28"/>
          <p:cNvSpPr txBox="1"/>
          <p:nvPr/>
        </p:nvSpPr>
        <p:spPr>
          <a:xfrm>
            <a:off x="6973300" y="1906950"/>
            <a:ext cx="1257000" cy="4032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Calibri"/>
                <a:ea typeface="Calibri"/>
                <a:cs typeface="Calibri"/>
                <a:sym typeface="Calibri"/>
              </a:rPr>
              <a:t>Final Decision</a:t>
            </a:r>
            <a:endParaRPr>
              <a:solidFill>
                <a:srgbClr val="FFFFFF"/>
              </a:solidFill>
              <a:latin typeface="Calibri"/>
              <a:ea typeface="Calibri"/>
              <a:cs typeface="Calibri"/>
              <a:sym typeface="Calibri"/>
            </a:endParaRPr>
          </a:p>
        </p:txBody>
      </p:sp>
      <p:sp>
        <p:nvSpPr>
          <p:cNvPr id="237" name="Google Shape;237;p28"/>
          <p:cNvSpPr txBox="1"/>
          <p:nvPr>
            <p:ph type="title"/>
          </p:nvPr>
        </p:nvSpPr>
        <p:spPr>
          <a:xfrm>
            <a:off x="-86850" y="68650"/>
            <a:ext cx="9341400" cy="572700"/>
          </a:xfrm>
          <a:prstGeom prst="rect">
            <a:avLst/>
          </a:prstGeom>
          <a:solidFill>
            <a:schemeClr val="accent3"/>
          </a:solidFill>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FFFFF"/>
                </a:solidFill>
                <a:latin typeface="Calibri"/>
                <a:ea typeface="Calibri"/>
                <a:cs typeface="Calibri"/>
                <a:sym typeface="Calibri"/>
              </a:rPr>
              <a:t>    CRM Deployment Cycle</a:t>
            </a:r>
            <a:endParaRPr>
              <a:solidFill>
                <a:srgbClr val="FFFFF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1000"/>
                                        <p:tgtEl>
                                          <p:spTgt spid="2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1000"/>
                                        <p:tgtEl>
                                          <p:spTgt spid="2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1000"/>
                                        <p:tgtEl>
                                          <p:spTgt spid="2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1000"/>
                                        <p:tgtEl>
                                          <p:spTgt spid="2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1000"/>
                                        <p:tgtEl>
                                          <p:spTgt spid="2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1" name="Shape 241"/>
        <p:cNvGrpSpPr/>
        <p:nvPr/>
      </p:nvGrpSpPr>
      <p:grpSpPr>
        <a:xfrm>
          <a:off x="0" y="0"/>
          <a:ext cx="0" cy="0"/>
          <a:chOff x="0" y="0"/>
          <a:chExt cx="0" cy="0"/>
        </a:xfrm>
      </p:grpSpPr>
      <p:sp>
        <p:nvSpPr>
          <p:cNvPr id="242" name="Google Shape;242;p29"/>
          <p:cNvSpPr txBox="1"/>
          <p:nvPr>
            <p:ph type="title"/>
          </p:nvPr>
        </p:nvSpPr>
        <p:spPr>
          <a:xfrm>
            <a:off x="295200" y="445025"/>
            <a:ext cx="8537100" cy="771600"/>
          </a:xfrm>
          <a:prstGeom prst="rect">
            <a:avLst/>
          </a:prstGeom>
          <a:solidFill>
            <a:schemeClr val="accent3"/>
          </a:solidFill>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rPr lang="en-GB" sz="1800">
                <a:solidFill>
                  <a:srgbClr val="FFFFFF"/>
                </a:solidFill>
                <a:latin typeface="Calibri"/>
                <a:ea typeface="Calibri"/>
                <a:cs typeface="Calibri"/>
                <a:sym typeface="Calibri"/>
              </a:rPr>
              <a:t>Q4: The leaders are questioning the utility of social network integration in their business strategy. What recommendations would you make to Anne and his board?</a:t>
            </a:r>
            <a:endParaRPr sz="1800">
              <a:solidFill>
                <a:srgbClr val="FFFFFF"/>
              </a:solidFill>
              <a:latin typeface="Calibri"/>
              <a:ea typeface="Calibri"/>
              <a:cs typeface="Calibri"/>
              <a:sym typeface="Calibri"/>
            </a:endParaRPr>
          </a:p>
          <a:p>
            <a:pPr indent="0" lvl="0" marL="457200" rtl="0" algn="l">
              <a:lnSpc>
                <a:spcPct val="115000"/>
              </a:lnSpc>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a:p>
        </p:txBody>
      </p:sp>
      <p:sp>
        <p:nvSpPr>
          <p:cNvPr id="243" name="Google Shape;243;p29"/>
          <p:cNvSpPr txBox="1"/>
          <p:nvPr>
            <p:ph idx="1" type="body"/>
          </p:nvPr>
        </p:nvSpPr>
        <p:spPr>
          <a:xfrm>
            <a:off x="1785600" y="1636275"/>
            <a:ext cx="5572800" cy="618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GB">
                <a:latin typeface="Comic Sans MS"/>
                <a:ea typeface="Comic Sans MS"/>
                <a:cs typeface="Comic Sans MS"/>
                <a:sym typeface="Comic Sans MS"/>
              </a:rPr>
              <a:t>What certain questions that leaders may ask?</a:t>
            </a:r>
            <a:endParaRPr>
              <a:latin typeface="Comic Sans MS"/>
              <a:ea typeface="Comic Sans MS"/>
              <a:cs typeface="Comic Sans MS"/>
              <a:sym typeface="Comic Sans MS"/>
            </a:endParaRPr>
          </a:p>
        </p:txBody>
      </p:sp>
      <p:pic>
        <p:nvPicPr>
          <p:cNvPr id="244" name="Google Shape;244;p29"/>
          <p:cNvPicPr preferRelativeResize="0"/>
          <p:nvPr/>
        </p:nvPicPr>
        <p:blipFill>
          <a:blip r:embed="rId3">
            <a:alphaModFix/>
          </a:blip>
          <a:stretch>
            <a:fillRect/>
          </a:stretch>
        </p:blipFill>
        <p:spPr>
          <a:xfrm>
            <a:off x="3547800" y="2371150"/>
            <a:ext cx="2048400" cy="2602800"/>
          </a:xfrm>
          <a:prstGeom prst="roundRect">
            <a:avLst>
              <a:gd fmla="val 16667" name="adj"/>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1000"/>
                                        <p:tgtEl>
                                          <p:spTgt spid="243"/>
                                        </p:tgtEl>
                                      </p:cBhvr>
                                    </p:animEffect>
                                  </p:childTnLst>
                                </p:cTn>
                              </p:par>
                              <p:par>
                                <p:cTn fill="hold" nodeType="with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1000"/>
                                        <p:tgtEl>
                                          <p:spTgt spid="2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8" name="Shape 248"/>
        <p:cNvGrpSpPr/>
        <p:nvPr/>
      </p:nvGrpSpPr>
      <p:grpSpPr>
        <a:xfrm>
          <a:off x="0" y="0"/>
          <a:ext cx="0" cy="0"/>
          <a:chOff x="0" y="0"/>
          <a:chExt cx="0" cy="0"/>
        </a:xfrm>
      </p:grpSpPr>
      <p:sp>
        <p:nvSpPr>
          <p:cNvPr id="249" name="Google Shape;249;p30"/>
          <p:cNvSpPr txBox="1"/>
          <p:nvPr/>
        </p:nvSpPr>
        <p:spPr>
          <a:xfrm>
            <a:off x="2188050" y="227625"/>
            <a:ext cx="47679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434343"/>
                </a:solidFill>
                <a:latin typeface="Comic Sans MS"/>
                <a:ea typeface="Comic Sans MS"/>
                <a:cs typeface="Comic Sans MS"/>
                <a:sym typeface="Comic Sans MS"/>
              </a:rPr>
              <a:t>“Will the CRM system perform well?”</a:t>
            </a:r>
            <a:endParaRPr sz="1800">
              <a:solidFill>
                <a:srgbClr val="434343"/>
              </a:solidFill>
              <a:latin typeface="Comic Sans MS"/>
              <a:ea typeface="Comic Sans MS"/>
              <a:cs typeface="Comic Sans MS"/>
              <a:sym typeface="Comic Sans MS"/>
            </a:endParaRPr>
          </a:p>
        </p:txBody>
      </p:sp>
      <p:pic>
        <p:nvPicPr>
          <p:cNvPr id="250" name="Google Shape;250;p30"/>
          <p:cNvPicPr preferRelativeResize="0"/>
          <p:nvPr/>
        </p:nvPicPr>
        <p:blipFill rotWithShape="1">
          <a:blip r:embed="rId3">
            <a:alphaModFix/>
          </a:blip>
          <a:srcRect b="0" l="13799" r="13878" t="0"/>
          <a:stretch/>
        </p:blipFill>
        <p:spPr>
          <a:xfrm>
            <a:off x="4776750" y="1064475"/>
            <a:ext cx="4186350" cy="3704651"/>
          </a:xfrm>
          <a:prstGeom prst="rect">
            <a:avLst/>
          </a:prstGeom>
          <a:noFill/>
          <a:ln>
            <a:noFill/>
          </a:ln>
          <a:effectLst>
            <a:outerShdw blurRad="57150" rotWithShape="0" algn="bl" dir="5400000" dist="19050">
              <a:srgbClr val="000000">
                <a:alpha val="50000"/>
              </a:srgbClr>
            </a:outerShdw>
          </a:effectLst>
        </p:spPr>
      </p:pic>
      <p:pic>
        <p:nvPicPr>
          <p:cNvPr id="251" name="Google Shape;251;p30"/>
          <p:cNvPicPr preferRelativeResize="0"/>
          <p:nvPr/>
        </p:nvPicPr>
        <p:blipFill>
          <a:blip r:embed="rId4">
            <a:alphaModFix/>
          </a:blip>
          <a:stretch>
            <a:fillRect/>
          </a:stretch>
        </p:blipFill>
        <p:spPr>
          <a:xfrm>
            <a:off x="1203750" y="1345300"/>
            <a:ext cx="290700" cy="290700"/>
          </a:xfrm>
          <a:prstGeom prst="rect">
            <a:avLst/>
          </a:prstGeom>
          <a:noFill/>
          <a:ln>
            <a:noFill/>
          </a:ln>
        </p:spPr>
      </p:pic>
      <p:sp>
        <p:nvSpPr>
          <p:cNvPr id="252" name="Google Shape;252;p30"/>
          <p:cNvSpPr txBox="1"/>
          <p:nvPr/>
        </p:nvSpPr>
        <p:spPr>
          <a:xfrm>
            <a:off x="1552325" y="1299663"/>
            <a:ext cx="1637100" cy="29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434343"/>
                </a:solidFill>
                <a:latin typeface="Calibri"/>
                <a:ea typeface="Calibri"/>
                <a:cs typeface="Calibri"/>
                <a:sym typeface="Calibri"/>
              </a:rPr>
              <a:t>Cloud Deployment</a:t>
            </a:r>
            <a:endParaRPr>
              <a:solidFill>
                <a:srgbClr val="434343"/>
              </a:solidFill>
              <a:latin typeface="Calibri"/>
              <a:ea typeface="Calibri"/>
              <a:cs typeface="Calibri"/>
              <a:sym typeface="Calibri"/>
            </a:endParaRPr>
          </a:p>
        </p:txBody>
      </p:sp>
      <p:sp>
        <p:nvSpPr>
          <p:cNvPr id="253" name="Google Shape;253;p30"/>
          <p:cNvSpPr txBox="1"/>
          <p:nvPr/>
        </p:nvSpPr>
        <p:spPr>
          <a:xfrm>
            <a:off x="1458575" y="1698775"/>
            <a:ext cx="1824600" cy="3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434343"/>
                </a:solidFill>
                <a:latin typeface="Calibri"/>
                <a:ea typeface="Calibri"/>
                <a:cs typeface="Calibri"/>
                <a:sym typeface="Calibri"/>
              </a:rPr>
              <a:t>High Data Consistency</a:t>
            </a:r>
            <a:endParaRPr>
              <a:solidFill>
                <a:srgbClr val="434343"/>
              </a:solidFill>
              <a:latin typeface="Calibri"/>
              <a:ea typeface="Calibri"/>
              <a:cs typeface="Calibri"/>
              <a:sym typeface="Calibri"/>
            </a:endParaRPr>
          </a:p>
        </p:txBody>
      </p:sp>
      <p:sp>
        <p:nvSpPr>
          <p:cNvPr id="254" name="Google Shape;254;p30"/>
          <p:cNvSpPr txBox="1"/>
          <p:nvPr/>
        </p:nvSpPr>
        <p:spPr>
          <a:xfrm>
            <a:off x="1552325" y="2201375"/>
            <a:ext cx="2075400" cy="2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434343"/>
                </a:solidFill>
                <a:latin typeface="Calibri"/>
                <a:ea typeface="Calibri"/>
                <a:cs typeface="Calibri"/>
                <a:sym typeface="Calibri"/>
              </a:rPr>
              <a:t>Access to source code</a:t>
            </a:r>
            <a:endParaRPr>
              <a:solidFill>
                <a:srgbClr val="434343"/>
              </a:solidFill>
              <a:latin typeface="Calibri"/>
              <a:ea typeface="Calibri"/>
              <a:cs typeface="Calibri"/>
              <a:sym typeface="Calibri"/>
            </a:endParaRPr>
          </a:p>
        </p:txBody>
      </p:sp>
      <p:sp>
        <p:nvSpPr>
          <p:cNvPr id="255" name="Google Shape;255;p30"/>
          <p:cNvSpPr/>
          <p:nvPr/>
        </p:nvSpPr>
        <p:spPr>
          <a:xfrm>
            <a:off x="3247300" y="1459175"/>
            <a:ext cx="389400" cy="527400"/>
          </a:xfrm>
          <a:prstGeom prst="curvedLef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6" name="Google Shape;256;p30"/>
          <p:cNvPicPr preferRelativeResize="0"/>
          <p:nvPr/>
        </p:nvPicPr>
        <p:blipFill>
          <a:blip r:embed="rId5">
            <a:alphaModFix/>
          </a:blip>
          <a:stretch>
            <a:fillRect/>
          </a:stretch>
        </p:blipFill>
        <p:spPr>
          <a:xfrm>
            <a:off x="1201175" y="2281056"/>
            <a:ext cx="290700" cy="290700"/>
          </a:xfrm>
          <a:prstGeom prst="rect">
            <a:avLst/>
          </a:prstGeom>
          <a:noFill/>
          <a:ln>
            <a:noFill/>
          </a:ln>
        </p:spPr>
      </p:pic>
      <p:sp>
        <p:nvSpPr>
          <p:cNvPr id="257" name="Google Shape;257;p30"/>
          <p:cNvSpPr txBox="1"/>
          <p:nvPr/>
        </p:nvSpPr>
        <p:spPr>
          <a:xfrm>
            <a:off x="1623875" y="2639900"/>
            <a:ext cx="1780200" cy="78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solidFill>
                  <a:srgbClr val="434343"/>
                </a:solidFill>
                <a:latin typeface="Calibri"/>
                <a:ea typeface="Calibri"/>
                <a:cs typeface="Calibri"/>
                <a:sym typeface="Calibri"/>
              </a:rPr>
              <a:t>High Maintainability &amp;</a:t>
            </a:r>
            <a:endParaRPr>
              <a:solidFill>
                <a:srgbClr val="434343"/>
              </a:solidFill>
              <a:latin typeface="Calibri"/>
              <a:ea typeface="Calibri"/>
              <a:cs typeface="Calibri"/>
              <a:sym typeface="Calibri"/>
            </a:endParaRPr>
          </a:p>
          <a:p>
            <a:pPr indent="0" lvl="0" marL="0" rtl="0" algn="ctr">
              <a:spcBef>
                <a:spcPts val="0"/>
              </a:spcBef>
              <a:spcAft>
                <a:spcPts val="0"/>
              </a:spcAft>
              <a:buNone/>
            </a:pPr>
            <a:r>
              <a:rPr lang="en-GB">
                <a:solidFill>
                  <a:srgbClr val="434343"/>
                </a:solidFill>
                <a:latin typeface="Calibri"/>
                <a:ea typeface="Calibri"/>
                <a:cs typeface="Calibri"/>
                <a:sym typeface="Calibri"/>
              </a:rPr>
              <a:t>High C</a:t>
            </a:r>
            <a:r>
              <a:rPr lang="en-GB">
                <a:solidFill>
                  <a:srgbClr val="434343"/>
                </a:solidFill>
                <a:latin typeface="Calibri"/>
                <a:ea typeface="Calibri"/>
                <a:cs typeface="Calibri"/>
                <a:sym typeface="Calibri"/>
              </a:rPr>
              <a:t>ustomizability</a:t>
            </a:r>
            <a:endParaRPr>
              <a:solidFill>
                <a:srgbClr val="434343"/>
              </a:solidFill>
              <a:latin typeface="Calibri"/>
              <a:ea typeface="Calibri"/>
              <a:cs typeface="Calibri"/>
              <a:sym typeface="Calibri"/>
            </a:endParaRPr>
          </a:p>
          <a:p>
            <a:pPr indent="0" lvl="0" marL="0" rtl="0" algn="l">
              <a:spcBef>
                <a:spcPts val="0"/>
              </a:spcBef>
              <a:spcAft>
                <a:spcPts val="0"/>
              </a:spcAft>
              <a:buNone/>
            </a:pPr>
            <a:r>
              <a:t/>
            </a:r>
            <a:endParaRPr>
              <a:solidFill>
                <a:srgbClr val="434343"/>
              </a:solidFill>
              <a:latin typeface="Calibri"/>
              <a:ea typeface="Calibri"/>
              <a:cs typeface="Calibri"/>
              <a:sym typeface="Calibri"/>
            </a:endParaRPr>
          </a:p>
        </p:txBody>
      </p:sp>
      <p:sp>
        <p:nvSpPr>
          <p:cNvPr id="258" name="Google Shape;258;p30"/>
          <p:cNvSpPr/>
          <p:nvPr/>
        </p:nvSpPr>
        <p:spPr>
          <a:xfrm>
            <a:off x="3283175" y="2371925"/>
            <a:ext cx="389400" cy="786600"/>
          </a:xfrm>
          <a:prstGeom prst="curvedLef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0"/>
          <p:cNvSpPr txBox="1"/>
          <p:nvPr/>
        </p:nvSpPr>
        <p:spPr>
          <a:xfrm>
            <a:off x="1429075" y="3516725"/>
            <a:ext cx="2075400" cy="35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434343"/>
                </a:solidFill>
                <a:latin typeface="Calibri"/>
                <a:ea typeface="Calibri"/>
                <a:cs typeface="Calibri"/>
                <a:sym typeface="Calibri"/>
              </a:rPr>
              <a:t>Access to all the functions</a:t>
            </a:r>
            <a:endParaRPr>
              <a:solidFill>
                <a:srgbClr val="434343"/>
              </a:solidFill>
              <a:latin typeface="Calibri"/>
              <a:ea typeface="Calibri"/>
              <a:cs typeface="Calibri"/>
              <a:sym typeface="Calibri"/>
            </a:endParaRPr>
          </a:p>
        </p:txBody>
      </p:sp>
      <p:pic>
        <p:nvPicPr>
          <p:cNvPr id="260" name="Google Shape;260;p30"/>
          <p:cNvPicPr preferRelativeResize="0"/>
          <p:nvPr/>
        </p:nvPicPr>
        <p:blipFill>
          <a:blip r:embed="rId6">
            <a:alphaModFix/>
          </a:blip>
          <a:stretch>
            <a:fillRect/>
          </a:stretch>
        </p:blipFill>
        <p:spPr>
          <a:xfrm>
            <a:off x="1201170" y="3581845"/>
            <a:ext cx="290700" cy="290700"/>
          </a:xfrm>
          <a:prstGeom prst="rect">
            <a:avLst/>
          </a:prstGeom>
          <a:noFill/>
          <a:ln>
            <a:noFill/>
          </a:ln>
        </p:spPr>
      </p:pic>
      <p:sp>
        <p:nvSpPr>
          <p:cNvPr id="261" name="Google Shape;261;p30"/>
          <p:cNvSpPr txBox="1"/>
          <p:nvPr/>
        </p:nvSpPr>
        <p:spPr>
          <a:xfrm>
            <a:off x="1789175" y="3952575"/>
            <a:ext cx="1516200" cy="35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434343"/>
                </a:solidFill>
                <a:latin typeface="Calibri"/>
                <a:ea typeface="Calibri"/>
                <a:cs typeface="Calibri"/>
                <a:sym typeface="Calibri"/>
              </a:rPr>
              <a:t>High Choosability</a:t>
            </a:r>
            <a:endParaRPr>
              <a:solidFill>
                <a:srgbClr val="434343"/>
              </a:solidFill>
              <a:latin typeface="Calibri"/>
              <a:ea typeface="Calibri"/>
              <a:cs typeface="Calibri"/>
              <a:sym typeface="Calibri"/>
            </a:endParaRPr>
          </a:p>
        </p:txBody>
      </p:sp>
      <p:sp>
        <p:nvSpPr>
          <p:cNvPr id="262" name="Google Shape;262;p30"/>
          <p:cNvSpPr/>
          <p:nvPr/>
        </p:nvSpPr>
        <p:spPr>
          <a:xfrm>
            <a:off x="3437375" y="3705125"/>
            <a:ext cx="389400" cy="527400"/>
          </a:xfrm>
          <a:prstGeom prst="curvedLef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1000"/>
                                        <p:tgtEl>
                                          <p:spTgt spid="249"/>
                                        </p:tgtEl>
                                      </p:cBhvr>
                                    </p:animEffect>
                                  </p:childTnLst>
                                </p:cTn>
                              </p:par>
                              <p:par>
                                <p:cTn fill="hold" nodeType="with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1000"/>
                                        <p:tgtEl>
                                          <p:spTgt spid="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1000"/>
                                        <p:tgtEl>
                                          <p:spTgt spid="251"/>
                                        </p:tgtEl>
                                      </p:cBhvr>
                                    </p:animEffect>
                                  </p:childTnLst>
                                </p:cTn>
                              </p:par>
                              <p:par>
                                <p:cTn fill="hold" nodeType="with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1000"/>
                                        <p:tgtEl>
                                          <p:spTgt spid="252"/>
                                        </p:tgtEl>
                                      </p:cBhvr>
                                    </p:animEffect>
                                  </p:childTnLst>
                                </p:cTn>
                              </p:par>
                              <p:par>
                                <p:cTn fill="hold" nodeType="with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1000"/>
                                        <p:tgtEl>
                                          <p:spTgt spid="253"/>
                                        </p:tgtEl>
                                      </p:cBhvr>
                                    </p:animEffect>
                                  </p:childTnLst>
                                </p:cTn>
                              </p:par>
                              <p:par>
                                <p:cTn fill="hold" nodeType="with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1000"/>
                                        <p:tgtEl>
                                          <p:spTgt spid="254"/>
                                        </p:tgtEl>
                                      </p:cBhvr>
                                    </p:animEffect>
                                  </p:childTnLst>
                                </p:cTn>
                              </p:par>
                              <p:par>
                                <p:cTn fill="hold" nodeType="with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1000"/>
                                        <p:tgtEl>
                                          <p:spTgt spid="255"/>
                                        </p:tgtEl>
                                      </p:cBhvr>
                                    </p:animEffect>
                                  </p:childTnLst>
                                </p:cTn>
                              </p:par>
                              <p:par>
                                <p:cTn fill="hold" nodeType="with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1000"/>
                                        <p:tgtEl>
                                          <p:spTgt spid="256"/>
                                        </p:tgtEl>
                                      </p:cBhvr>
                                    </p:animEffect>
                                  </p:childTnLst>
                                </p:cTn>
                              </p:par>
                              <p:par>
                                <p:cTn fill="hold" nodeType="with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1000"/>
                                        <p:tgtEl>
                                          <p:spTgt spid="257"/>
                                        </p:tgtEl>
                                      </p:cBhvr>
                                    </p:animEffect>
                                  </p:childTnLst>
                                </p:cTn>
                              </p:par>
                              <p:par>
                                <p:cTn fill="hold" nodeType="with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1000"/>
                                        <p:tgtEl>
                                          <p:spTgt spid="258"/>
                                        </p:tgtEl>
                                      </p:cBhvr>
                                    </p:animEffect>
                                  </p:childTnLst>
                                </p:cTn>
                              </p:par>
                              <p:par>
                                <p:cTn fill="hold" nodeType="with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1000"/>
                                        <p:tgtEl>
                                          <p:spTgt spid="259"/>
                                        </p:tgtEl>
                                      </p:cBhvr>
                                    </p:animEffect>
                                  </p:childTnLst>
                                </p:cTn>
                              </p:par>
                              <p:par>
                                <p:cTn fill="hold" nodeType="with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1000"/>
                                        <p:tgtEl>
                                          <p:spTgt spid="260"/>
                                        </p:tgtEl>
                                      </p:cBhvr>
                                    </p:animEffect>
                                  </p:childTnLst>
                                </p:cTn>
                              </p:par>
                              <p:par>
                                <p:cTn fill="hold" nodeType="with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1000"/>
                                        <p:tgtEl>
                                          <p:spTgt spid="261"/>
                                        </p:tgtEl>
                                      </p:cBhvr>
                                    </p:animEffect>
                                  </p:childTnLst>
                                </p:cTn>
                              </p:par>
                              <p:par>
                                <p:cTn fill="hold" nodeType="with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1000"/>
                                        <p:tgtEl>
                                          <p:spTgt spid="2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6" name="Shape 266"/>
        <p:cNvGrpSpPr/>
        <p:nvPr/>
      </p:nvGrpSpPr>
      <p:grpSpPr>
        <a:xfrm>
          <a:off x="0" y="0"/>
          <a:ext cx="0" cy="0"/>
          <a:chOff x="0" y="0"/>
          <a:chExt cx="0" cy="0"/>
        </a:xfrm>
      </p:grpSpPr>
      <p:sp>
        <p:nvSpPr>
          <p:cNvPr id="267" name="Google Shape;267;p31"/>
          <p:cNvSpPr txBox="1"/>
          <p:nvPr>
            <p:ph type="title"/>
          </p:nvPr>
        </p:nvSpPr>
        <p:spPr>
          <a:xfrm>
            <a:off x="311700" y="445025"/>
            <a:ext cx="8696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800">
                <a:latin typeface="Comic Sans MS"/>
                <a:ea typeface="Comic Sans MS"/>
                <a:cs typeface="Comic Sans MS"/>
                <a:sym typeface="Comic Sans MS"/>
              </a:rPr>
              <a:t>“How can we check the utility of the CRM system that has been implemented?”</a:t>
            </a:r>
            <a:endParaRPr/>
          </a:p>
        </p:txBody>
      </p:sp>
      <p:pic>
        <p:nvPicPr>
          <p:cNvPr id="268" name="Google Shape;268;p31"/>
          <p:cNvPicPr preferRelativeResize="0"/>
          <p:nvPr/>
        </p:nvPicPr>
        <p:blipFill rotWithShape="1">
          <a:blip r:embed="rId3">
            <a:alphaModFix/>
          </a:blip>
          <a:srcRect b="12648" l="15378" r="7029" t="0"/>
          <a:stretch/>
        </p:blipFill>
        <p:spPr>
          <a:xfrm>
            <a:off x="4615725" y="1152475"/>
            <a:ext cx="4392075" cy="3416399"/>
          </a:xfrm>
          <a:prstGeom prst="rect">
            <a:avLst/>
          </a:prstGeom>
          <a:noFill/>
          <a:ln>
            <a:noFill/>
          </a:ln>
          <a:effectLst>
            <a:outerShdw blurRad="57150" rotWithShape="0" algn="bl" dir="5400000" dist="19050">
              <a:srgbClr val="000000">
                <a:alpha val="50000"/>
              </a:srgbClr>
            </a:outerShdw>
          </a:effectLst>
        </p:spPr>
      </p:pic>
      <p:sp>
        <p:nvSpPr>
          <p:cNvPr id="269" name="Google Shape;269;p31"/>
          <p:cNvSpPr txBox="1"/>
          <p:nvPr/>
        </p:nvSpPr>
        <p:spPr>
          <a:xfrm>
            <a:off x="518825" y="1152475"/>
            <a:ext cx="3738900" cy="395100"/>
          </a:xfrm>
          <a:prstGeom prst="rect">
            <a:avLst/>
          </a:prstGeom>
          <a:solidFill>
            <a:schemeClr val="accent3"/>
          </a:solid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Calibri"/>
                <a:ea typeface="Calibri"/>
                <a:cs typeface="Calibri"/>
                <a:sym typeface="Calibri"/>
              </a:rPr>
              <a:t>Look at the stats</a:t>
            </a:r>
            <a:endParaRPr>
              <a:solidFill>
                <a:srgbClr val="FFFFFF"/>
              </a:solidFill>
              <a:latin typeface="Calibri"/>
              <a:ea typeface="Calibri"/>
              <a:cs typeface="Calibri"/>
              <a:sym typeface="Calibri"/>
            </a:endParaRPr>
          </a:p>
        </p:txBody>
      </p:sp>
      <p:sp>
        <p:nvSpPr>
          <p:cNvPr id="270" name="Google Shape;270;p31"/>
          <p:cNvSpPr txBox="1"/>
          <p:nvPr/>
        </p:nvSpPr>
        <p:spPr>
          <a:xfrm>
            <a:off x="518825" y="1682325"/>
            <a:ext cx="3738900" cy="395100"/>
          </a:xfrm>
          <a:prstGeom prst="rect">
            <a:avLst/>
          </a:prstGeom>
          <a:solidFill>
            <a:schemeClr val="accent3"/>
          </a:solid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Calibri"/>
                <a:ea typeface="Calibri"/>
                <a:cs typeface="Calibri"/>
                <a:sym typeface="Calibri"/>
              </a:rPr>
              <a:t>Check what is it really being used for</a:t>
            </a:r>
            <a:endParaRPr>
              <a:solidFill>
                <a:srgbClr val="FFFFFF"/>
              </a:solidFill>
              <a:latin typeface="Calibri"/>
              <a:ea typeface="Calibri"/>
              <a:cs typeface="Calibri"/>
              <a:sym typeface="Calibri"/>
            </a:endParaRPr>
          </a:p>
        </p:txBody>
      </p:sp>
      <p:sp>
        <p:nvSpPr>
          <p:cNvPr id="271" name="Google Shape;271;p31"/>
          <p:cNvSpPr txBox="1"/>
          <p:nvPr/>
        </p:nvSpPr>
        <p:spPr>
          <a:xfrm>
            <a:off x="518825" y="2212175"/>
            <a:ext cx="3738900" cy="395100"/>
          </a:xfrm>
          <a:prstGeom prst="rect">
            <a:avLst/>
          </a:prstGeom>
          <a:solidFill>
            <a:schemeClr val="accent3"/>
          </a:solid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Calibri"/>
                <a:ea typeface="Calibri"/>
                <a:cs typeface="Calibri"/>
                <a:sym typeface="Calibri"/>
              </a:rPr>
              <a:t>Is there conflict?</a:t>
            </a:r>
            <a:endParaRPr>
              <a:solidFill>
                <a:srgbClr val="FFFFFF"/>
              </a:solidFill>
              <a:latin typeface="Calibri"/>
              <a:ea typeface="Calibri"/>
              <a:cs typeface="Calibri"/>
              <a:sym typeface="Calibri"/>
            </a:endParaRPr>
          </a:p>
        </p:txBody>
      </p:sp>
      <p:sp>
        <p:nvSpPr>
          <p:cNvPr id="272" name="Google Shape;272;p31"/>
          <p:cNvSpPr txBox="1"/>
          <p:nvPr/>
        </p:nvSpPr>
        <p:spPr>
          <a:xfrm>
            <a:off x="518825" y="3368813"/>
            <a:ext cx="3738900" cy="395100"/>
          </a:xfrm>
          <a:prstGeom prst="rect">
            <a:avLst/>
          </a:prstGeom>
          <a:solidFill>
            <a:schemeClr val="accent3"/>
          </a:solid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Calibri"/>
                <a:ea typeface="Calibri"/>
                <a:cs typeface="Calibri"/>
                <a:sym typeface="Calibri"/>
              </a:rPr>
              <a:t>How well is it being used?</a:t>
            </a:r>
            <a:endParaRPr>
              <a:solidFill>
                <a:srgbClr val="FFFFFF"/>
              </a:solidFill>
              <a:latin typeface="Calibri"/>
              <a:ea typeface="Calibri"/>
              <a:cs typeface="Calibri"/>
              <a:sym typeface="Calibri"/>
            </a:endParaRPr>
          </a:p>
        </p:txBody>
      </p:sp>
      <p:sp>
        <p:nvSpPr>
          <p:cNvPr id="273" name="Google Shape;273;p31"/>
          <p:cNvSpPr txBox="1"/>
          <p:nvPr/>
        </p:nvSpPr>
        <p:spPr>
          <a:xfrm>
            <a:off x="518825" y="2790500"/>
            <a:ext cx="3738900" cy="395100"/>
          </a:xfrm>
          <a:prstGeom prst="rect">
            <a:avLst/>
          </a:prstGeom>
          <a:solidFill>
            <a:schemeClr val="accent3"/>
          </a:solid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Calibri"/>
                <a:ea typeface="Calibri"/>
                <a:cs typeface="Calibri"/>
                <a:sym typeface="Calibri"/>
              </a:rPr>
              <a:t>Data quality</a:t>
            </a:r>
            <a:endParaRPr>
              <a:solidFill>
                <a:srgbClr val="FFFFFF"/>
              </a:solidFill>
              <a:latin typeface="Calibri"/>
              <a:ea typeface="Calibri"/>
              <a:cs typeface="Calibri"/>
              <a:sym typeface="Calibri"/>
            </a:endParaRPr>
          </a:p>
        </p:txBody>
      </p:sp>
      <p:sp>
        <p:nvSpPr>
          <p:cNvPr id="274" name="Google Shape;274;p31"/>
          <p:cNvSpPr txBox="1"/>
          <p:nvPr/>
        </p:nvSpPr>
        <p:spPr>
          <a:xfrm>
            <a:off x="518825" y="3914550"/>
            <a:ext cx="3738900" cy="395100"/>
          </a:xfrm>
          <a:prstGeom prst="rect">
            <a:avLst/>
          </a:prstGeom>
          <a:solidFill>
            <a:schemeClr val="accent3"/>
          </a:solid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Calibri"/>
                <a:ea typeface="Calibri"/>
                <a:cs typeface="Calibri"/>
                <a:sym typeface="Calibri"/>
              </a:rPr>
              <a:t>How is the reporting performed?</a:t>
            </a:r>
            <a:endParaRPr>
              <a:solidFill>
                <a:srgbClr val="FFFFF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1000"/>
                                        <p:tgtEl>
                                          <p:spTgt spid="267"/>
                                        </p:tgtEl>
                                      </p:cBhvr>
                                    </p:animEffect>
                                  </p:childTnLst>
                                </p:cTn>
                              </p:par>
                              <p:par>
                                <p:cTn fill="hold" nodeType="with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1000"/>
                                        <p:tgtEl>
                                          <p:spTgt spid="2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1000"/>
                                        <p:tgtEl>
                                          <p:spTgt spid="269"/>
                                        </p:tgtEl>
                                      </p:cBhvr>
                                    </p:animEffect>
                                  </p:childTnLst>
                                </p:cTn>
                              </p:par>
                              <p:par>
                                <p:cTn fill="hold" nodeType="with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1000"/>
                                        <p:tgtEl>
                                          <p:spTgt spid="270"/>
                                        </p:tgtEl>
                                      </p:cBhvr>
                                    </p:animEffect>
                                  </p:childTnLst>
                                </p:cTn>
                              </p:par>
                              <p:par>
                                <p:cTn fill="hold" nodeType="with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1000"/>
                                        <p:tgtEl>
                                          <p:spTgt spid="271"/>
                                        </p:tgtEl>
                                      </p:cBhvr>
                                    </p:animEffect>
                                  </p:childTnLst>
                                </p:cTn>
                              </p:par>
                              <p:par>
                                <p:cTn fill="hold" nodeType="with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1000"/>
                                        <p:tgtEl>
                                          <p:spTgt spid="272"/>
                                        </p:tgtEl>
                                      </p:cBhvr>
                                    </p:animEffect>
                                  </p:childTnLst>
                                </p:cTn>
                              </p:par>
                              <p:par>
                                <p:cTn fill="hold" nodeType="with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1000"/>
                                        <p:tgtEl>
                                          <p:spTgt spid="273"/>
                                        </p:tgtEl>
                                      </p:cBhvr>
                                    </p:animEffect>
                                  </p:childTnLst>
                                </p:cTn>
                              </p:par>
                              <p:par>
                                <p:cTn fill="hold" nodeType="withEffect" presetClass="entr" presetID="10" presetSubtype="0">
                                  <p:stCondLst>
                                    <p:cond delay="0"/>
                                  </p:stCondLst>
                                  <p:childTnLst>
                                    <p:set>
                                      <p:cBhvr>
                                        <p:cTn dur="1" fill="hold">
                                          <p:stCondLst>
                                            <p:cond delay="0"/>
                                          </p:stCondLst>
                                        </p:cTn>
                                        <p:tgtEl>
                                          <p:spTgt spid="274"/>
                                        </p:tgtEl>
                                        <p:attrNameLst>
                                          <p:attrName>style.visibility</p:attrName>
                                        </p:attrNameLst>
                                      </p:cBhvr>
                                      <p:to>
                                        <p:strVal val="visible"/>
                                      </p:to>
                                    </p:set>
                                    <p:animEffect filter="fade" transition="in">
                                      <p:cBhvr>
                                        <p:cTn dur="1000"/>
                                        <p:tgtEl>
                                          <p:spTgt spid="2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8" name="Shape 278"/>
        <p:cNvGrpSpPr/>
        <p:nvPr/>
      </p:nvGrpSpPr>
      <p:grpSpPr>
        <a:xfrm>
          <a:off x="0" y="0"/>
          <a:ext cx="0" cy="0"/>
          <a:chOff x="0" y="0"/>
          <a:chExt cx="0" cy="0"/>
        </a:xfrm>
      </p:grpSpPr>
      <p:sp>
        <p:nvSpPr>
          <p:cNvPr id="279" name="Google Shape;279;p32"/>
          <p:cNvSpPr txBox="1"/>
          <p:nvPr>
            <p:ph type="title"/>
          </p:nvPr>
        </p:nvSpPr>
        <p:spPr>
          <a:xfrm>
            <a:off x="311700" y="445025"/>
            <a:ext cx="86961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1800">
                <a:latin typeface="Comic Sans MS"/>
                <a:ea typeface="Comic Sans MS"/>
                <a:cs typeface="Comic Sans MS"/>
                <a:sym typeface="Comic Sans MS"/>
              </a:rPr>
              <a:t>“If there are problems, how can we fix them?”</a:t>
            </a:r>
            <a:endParaRPr/>
          </a:p>
        </p:txBody>
      </p:sp>
      <p:pic>
        <p:nvPicPr>
          <p:cNvPr id="280" name="Google Shape;280;p32"/>
          <p:cNvPicPr preferRelativeResize="0"/>
          <p:nvPr/>
        </p:nvPicPr>
        <p:blipFill>
          <a:blip r:embed="rId3">
            <a:alphaModFix/>
          </a:blip>
          <a:stretch>
            <a:fillRect/>
          </a:stretch>
        </p:blipFill>
        <p:spPr>
          <a:xfrm>
            <a:off x="4984798" y="1017725"/>
            <a:ext cx="3897777" cy="3910776"/>
          </a:xfrm>
          <a:prstGeom prst="rect">
            <a:avLst/>
          </a:prstGeom>
          <a:noFill/>
          <a:ln>
            <a:noFill/>
          </a:ln>
          <a:effectLst>
            <a:outerShdw blurRad="57150" rotWithShape="0" algn="bl" dir="5400000" dist="19050">
              <a:srgbClr val="000000">
                <a:alpha val="50000"/>
              </a:srgbClr>
            </a:outerShdw>
          </a:effectLst>
        </p:spPr>
      </p:pic>
      <p:sp>
        <p:nvSpPr>
          <p:cNvPr id="281" name="Google Shape;281;p32"/>
          <p:cNvSpPr txBox="1"/>
          <p:nvPr/>
        </p:nvSpPr>
        <p:spPr>
          <a:xfrm>
            <a:off x="268350" y="1498100"/>
            <a:ext cx="4410000" cy="5727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Calibri"/>
                <a:ea typeface="Calibri"/>
                <a:cs typeface="Calibri"/>
                <a:sym typeface="Calibri"/>
              </a:rPr>
              <a:t>CM Consultant and Peer advice ties</a:t>
            </a:r>
            <a:endParaRPr>
              <a:solidFill>
                <a:srgbClr val="FFFFFF"/>
              </a:solidFill>
              <a:latin typeface="Calibri"/>
              <a:ea typeface="Calibri"/>
              <a:cs typeface="Calibri"/>
              <a:sym typeface="Calibri"/>
            </a:endParaRPr>
          </a:p>
          <a:p>
            <a:pPr indent="0" lvl="0" marL="0" rtl="0" algn="ctr">
              <a:spcBef>
                <a:spcPts val="0"/>
              </a:spcBef>
              <a:spcAft>
                <a:spcPts val="0"/>
              </a:spcAft>
              <a:buNone/>
            </a:pPr>
            <a:r>
              <a:rPr lang="en-GB">
                <a:solidFill>
                  <a:srgbClr val="FFFFFF"/>
                </a:solidFill>
                <a:latin typeface="Calibri"/>
                <a:ea typeface="Calibri"/>
                <a:cs typeface="Calibri"/>
                <a:sym typeface="Calibri"/>
              </a:rPr>
              <a:t> (Deal with system satisfaction)</a:t>
            </a:r>
            <a:endParaRPr>
              <a:solidFill>
                <a:srgbClr val="FFFFFF"/>
              </a:solidFill>
              <a:latin typeface="Calibri"/>
              <a:ea typeface="Calibri"/>
              <a:cs typeface="Calibri"/>
              <a:sym typeface="Calibri"/>
            </a:endParaRPr>
          </a:p>
        </p:txBody>
      </p:sp>
      <p:sp>
        <p:nvSpPr>
          <p:cNvPr id="282" name="Google Shape;282;p32"/>
          <p:cNvSpPr txBox="1"/>
          <p:nvPr/>
        </p:nvSpPr>
        <p:spPr>
          <a:xfrm>
            <a:off x="268350" y="2275100"/>
            <a:ext cx="4410000" cy="5727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Calibri"/>
                <a:ea typeface="Calibri"/>
                <a:cs typeface="Calibri"/>
                <a:sym typeface="Calibri"/>
              </a:rPr>
              <a:t>Psychological Contract</a:t>
            </a:r>
            <a:r>
              <a:rPr lang="en-GB">
                <a:solidFill>
                  <a:srgbClr val="FFFFFF"/>
                </a:solidFill>
                <a:latin typeface="Calibri"/>
                <a:ea typeface="Calibri"/>
                <a:cs typeface="Calibri"/>
                <a:sym typeface="Calibri"/>
              </a:rPr>
              <a:t> </a:t>
            </a:r>
            <a:r>
              <a:rPr lang="en-GB">
                <a:solidFill>
                  <a:schemeClr val="lt1"/>
                </a:solidFill>
                <a:latin typeface="Calibri"/>
                <a:ea typeface="Calibri"/>
                <a:cs typeface="Calibri"/>
                <a:sym typeface="Calibri"/>
              </a:rPr>
              <a:t>(e.g.Top-down communication)</a:t>
            </a:r>
            <a:endParaRPr>
              <a:solidFill>
                <a:srgbClr val="FFFFFF"/>
              </a:solidFill>
              <a:latin typeface="Calibri"/>
              <a:ea typeface="Calibri"/>
              <a:cs typeface="Calibri"/>
              <a:sym typeface="Calibri"/>
            </a:endParaRPr>
          </a:p>
          <a:p>
            <a:pPr indent="0" lvl="0" marL="0" rtl="0" algn="ctr">
              <a:spcBef>
                <a:spcPts val="0"/>
              </a:spcBef>
              <a:spcAft>
                <a:spcPts val="0"/>
              </a:spcAft>
              <a:buNone/>
            </a:pPr>
            <a:r>
              <a:rPr lang="en-GB">
                <a:solidFill>
                  <a:srgbClr val="FFFFFF"/>
                </a:solidFill>
                <a:latin typeface="Calibri"/>
                <a:ea typeface="Calibri"/>
                <a:cs typeface="Calibri"/>
                <a:sym typeface="Calibri"/>
              </a:rPr>
              <a:t>(Deal with user resistance)</a:t>
            </a:r>
            <a:endParaRPr>
              <a:solidFill>
                <a:srgbClr val="FFFFFF"/>
              </a:solidFill>
              <a:latin typeface="Calibri"/>
              <a:ea typeface="Calibri"/>
              <a:cs typeface="Calibri"/>
              <a:sym typeface="Calibri"/>
            </a:endParaRPr>
          </a:p>
        </p:txBody>
      </p:sp>
      <p:sp>
        <p:nvSpPr>
          <p:cNvPr id="283" name="Google Shape;283;p32"/>
          <p:cNvSpPr txBox="1"/>
          <p:nvPr/>
        </p:nvSpPr>
        <p:spPr>
          <a:xfrm>
            <a:off x="268350" y="3052125"/>
            <a:ext cx="4410000" cy="5727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Calibri"/>
                <a:ea typeface="Calibri"/>
                <a:cs typeface="Calibri"/>
                <a:sym typeface="Calibri"/>
              </a:rPr>
              <a:t>IT Consultant </a:t>
            </a:r>
            <a:endParaRPr>
              <a:solidFill>
                <a:srgbClr val="FFFFFF"/>
              </a:solidFill>
              <a:latin typeface="Calibri"/>
              <a:ea typeface="Calibri"/>
              <a:cs typeface="Calibri"/>
              <a:sym typeface="Calibri"/>
            </a:endParaRPr>
          </a:p>
          <a:p>
            <a:pPr indent="0" lvl="0" marL="0" rtl="0" algn="ctr">
              <a:spcBef>
                <a:spcPts val="0"/>
              </a:spcBef>
              <a:spcAft>
                <a:spcPts val="0"/>
              </a:spcAft>
              <a:buNone/>
            </a:pPr>
            <a:r>
              <a:rPr lang="en-GB">
                <a:solidFill>
                  <a:srgbClr val="FFFFFF"/>
                </a:solidFill>
                <a:latin typeface="Calibri"/>
                <a:ea typeface="Calibri"/>
                <a:cs typeface="Calibri"/>
                <a:sym typeface="Calibri"/>
              </a:rPr>
              <a:t>(Deal with hardware and Software problem)</a:t>
            </a:r>
            <a:endParaRPr>
              <a:solidFill>
                <a:srgbClr val="FFFFFF"/>
              </a:solidFill>
              <a:latin typeface="Calibri"/>
              <a:ea typeface="Calibri"/>
              <a:cs typeface="Calibri"/>
              <a:sym typeface="Calibri"/>
            </a:endParaRPr>
          </a:p>
        </p:txBody>
      </p:sp>
      <p:sp>
        <p:nvSpPr>
          <p:cNvPr id="284" name="Google Shape;284;p32"/>
          <p:cNvSpPr txBox="1"/>
          <p:nvPr/>
        </p:nvSpPr>
        <p:spPr>
          <a:xfrm>
            <a:off x="268350" y="3875425"/>
            <a:ext cx="4410000" cy="5727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Calibri"/>
                <a:ea typeface="Calibri"/>
                <a:cs typeface="Calibri"/>
                <a:sym typeface="Calibri"/>
              </a:rPr>
              <a:t>Keep the flexibility of CRM system</a:t>
            </a:r>
            <a:endParaRPr>
              <a:solidFill>
                <a:srgbClr val="FFFFFF"/>
              </a:solidFill>
              <a:latin typeface="Calibri"/>
              <a:ea typeface="Calibri"/>
              <a:cs typeface="Calibri"/>
              <a:sym typeface="Calibri"/>
            </a:endParaRPr>
          </a:p>
          <a:p>
            <a:pPr indent="0" lvl="0" marL="0" rtl="0" algn="ctr">
              <a:spcBef>
                <a:spcPts val="0"/>
              </a:spcBef>
              <a:spcAft>
                <a:spcPts val="0"/>
              </a:spcAft>
              <a:buNone/>
            </a:pPr>
            <a:r>
              <a:rPr lang="en-GB">
                <a:solidFill>
                  <a:srgbClr val="FFFFFF"/>
                </a:solidFill>
                <a:latin typeface="Calibri"/>
                <a:ea typeface="Calibri"/>
                <a:cs typeface="Calibri"/>
                <a:sym typeface="Calibri"/>
              </a:rPr>
              <a:t>(Deal with the changing business situation)</a:t>
            </a:r>
            <a:endParaRPr>
              <a:solidFill>
                <a:srgbClr val="FFFFFF"/>
              </a:solidFill>
              <a:latin typeface="Calibri"/>
              <a:ea typeface="Calibri"/>
              <a:cs typeface="Calibri"/>
              <a:sym typeface="Calibri"/>
            </a:endParaRPr>
          </a:p>
          <a:p>
            <a:pPr indent="0" lvl="0" marL="0" rtl="0" algn="ctr">
              <a:spcBef>
                <a:spcPts val="0"/>
              </a:spcBef>
              <a:spcAft>
                <a:spcPts val="0"/>
              </a:spcAft>
              <a:buNone/>
            </a:pPr>
            <a:r>
              <a:t/>
            </a:r>
            <a:endParaRPr>
              <a:solidFill>
                <a:srgbClr val="FFFFF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1000"/>
                                        <p:tgtEl>
                                          <p:spTgt spid="279"/>
                                        </p:tgtEl>
                                      </p:cBhvr>
                                    </p:animEffect>
                                  </p:childTnLst>
                                </p:cTn>
                              </p:par>
                              <p:par>
                                <p:cTn fill="hold" nodeType="with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1000"/>
                                        <p:tgtEl>
                                          <p:spTgt spid="2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1000"/>
                                        <p:tgtEl>
                                          <p:spTgt spid="281"/>
                                        </p:tgtEl>
                                      </p:cBhvr>
                                    </p:animEffect>
                                  </p:childTnLst>
                                </p:cTn>
                              </p:par>
                              <p:par>
                                <p:cTn fill="hold" nodeType="with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1000"/>
                                        <p:tgtEl>
                                          <p:spTgt spid="282"/>
                                        </p:tgtEl>
                                      </p:cBhvr>
                                    </p:animEffect>
                                  </p:childTnLst>
                                </p:cTn>
                              </p:par>
                              <p:par>
                                <p:cTn fill="hold" nodeType="with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1000"/>
                                        <p:tgtEl>
                                          <p:spTgt spid="283"/>
                                        </p:tgtEl>
                                      </p:cBhvr>
                                    </p:animEffect>
                                  </p:childTnLst>
                                </p:cTn>
                              </p:par>
                              <p:par>
                                <p:cTn fill="hold" nodeType="with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1000"/>
                                        <p:tgtEl>
                                          <p:spTgt spid="2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8" name="Shape 288"/>
        <p:cNvGrpSpPr/>
        <p:nvPr/>
      </p:nvGrpSpPr>
      <p:grpSpPr>
        <a:xfrm>
          <a:off x="0" y="0"/>
          <a:ext cx="0" cy="0"/>
          <a:chOff x="0" y="0"/>
          <a:chExt cx="0" cy="0"/>
        </a:xfrm>
      </p:grpSpPr>
      <p:sp>
        <p:nvSpPr>
          <p:cNvPr id="289" name="Google Shape;289;p33"/>
          <p:cNvSpPr txBox="1"/>
          <p:nvPr>
            <p:ph type="title"/>
          </p:nvPr>
        </p:nvSpPr>
        <p:spPr>
          <a:xfrm>
            <a:off x="-86850" y="68650"/>
            <a:ext cx="9341400" cy="572700"/>
          </a:xfrm>
          <a:prstGeom prst="rect">
            <a:avLst/>
          </a:prstGeom>
          <a:solidFill>
            <a:schemeClr val="accent3"/>
          </a:solidFill>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FFFFF"/>
                </a:solidFill>
                <a:latin typeface="Calibri"/>
                <a:ea typeface="Calibri"/>
                <a:cs typeface="Calibri"/>
                <a:sym typeface="Calibri"/>
              </a:rPr>
              <a:t>    Reference</a:t>
            </a:r>
            <a:endParaRPr>
              <a:solidFill>
                <a:srgbClr val="FFFFFF"/>
              </a:solidFill>
              <a:latin typeface="Calibri"/>
              <a:ea typeface="Calibri"/>
              <a:cs typeface="Calibri"/>
              <a:sym typeface="Calibri"/>
            </a:endParaRPr>
          </a:p>
        </p:txBody>
      </p:sp>
      <p:sp>
        <p:nvSpPr>
          <p:cNvPr id="290" name="Google Shape;290;p33"/>
          <p:cNvSpPr txBox="1"/>
          <p:nvPr/>
        </p:nvSpPr>
        <p:spPr>
          <a:xfrm>
            <a:off x="268475" y="840775"/>
            <a:ext cx="8725500" cy="2790900"/>
          </a:xfrm>
          <a:prstGeom prst="rect">
            <a:avLst/>
          </a:prstGeom>
          <a:solidFill>
            <a:schemeClr val="accent3"/>
          </a:solidFill>
          <a:ln>
            <a:noFill/>
          </a:ln>
        </p:spPr>
        <p:txBody>
          <a:bodyPr anchorCtr="0" anchor="t" bIns="91425" lIns="91425" spcFirstLastPara="1" rIns="91425" wrap="square" tIns="91425">
            <a:noAutofit/>
          </a:bodyPr>
          <a:lstStyle/>
          <a:p>
            <a:pPr indent="-203200" lvl="0" marL="406400" marR="215900" rtl="0" algn="l">
              <a:lnSpc>
                <a:spcPct val="100000"/>
              </a:lnSpc>
              <a:spcBef>
                <a:spcPts val="500"/>
              </a:spcBef>
              <a:spcAft>
                <a:spcPts val="0"/>
              </a:spcAft>
              <a:buClr>
                <a:schemeClr val="dk1"/>
              </a:buClr>
              <a:buSzPts val="1100"/>
              <a:buFont typeface="Arial"/>
              <a:buNone/>
            </a:pPr>
            <a:r>
              <a:rPr lang="en-GB" sz="1200">
                <a:solidFill>
                  <a:srgbClr val="FFFFFF"/>
                </a:solidFill>
                <a:latin typeface="Calibri"/>
                <a:ea typeface="Calibri"/>
                <a:cs typeface="Calibri"/>
                <a:sym typeface="Calibri"/>
              </a:rPr>
              <a:t>A. (2018, May 23). Cloud vs Open Source. Retrieved from https://www.vtiger.com/cloud-vs-open-source/</a:t>
            </a:r>
            <a:endParaRPr sz="1200">
              <a:solidFill>
                <a:srgbClr val="FFFFFF"/>
              </a:solidFill>
              <a:latin typeface="Calibri"/>
              <a:ea typeface="Calibri"/>
              <a:cs typeface="Calibri"/>
              <a:sym typeface="Calibri"/>
            </a:endParaRPr>
          </a:p>
          <a:p>
            <a:pPr indent="-203200" lvl="0" marL="406400" marR="215900" rtl="0" algn="l">
              <a:lnSpc>
                <a:spcPct val="100000"/>
              </a:lnSpc>
              <a:spcBef>
                <a:spcPts val="1500"/>
              </a:spcBef>
              <a:spcAft>
                <a:spcPts val="0"/>
              </a:spcAft>
              <a:buClr>
                <a:schemeClr val="dk1"/>
              </a:buClr>
              <a:buSzPts val="1100"/>
              <a:buFont typeface="Arial"/>
              <a:buNone/>
            </a:pPr>
            <a:r>
              <a:rPr lang="en-GB" sz="1200">
                <a:solidFill>
                  <a:srgbClr val="FFFFFF"/>
                </a:solidFill>
                <a:latin typeface="Calibri"/>
                <a:ea typeface="Calibri"/>
                <a:cs typeface="Calibri"/>
                <a:sym typeface="Calibri"/>
              </a:rPr>
              <a:t>Free vs. open source software – what's the difference? | IDG Connect. (n.d.). Retrieved from https://www.idgconnect.com/abstract/29146/free-vs-source-software-difference</a:t>
            </a:r>
            <a:endParaRPr sz="1200">
              <a:solidFill>
                <a:srgbClr val="FFFFFF"/>
              </a:solidFill>
              <a:latin typeface="Calibri"/>
              <a:ea typeface="Calibri"/>
              <a:cs typeface="Calibri"/>
              <a:sym typeface="Calibri"/>
            </a:endParaRPr>
          </a:p>
          <a:p>
            <a:pPr indent="-203200" lvl="0" marL="406400" marR="215900" rtl="0" algn="l">
              <a:lnSpc>
                <a:spcPct val="100000"/>
              </a:lnSpc>
              <a:spcBef>
                <a:spcPts val="1500"/>
              </a:spcBef>
              <a:spcAft>
                <a:spcPts val="0"/>
              </a:spcAft>
              <a:buClr>
                <a:schemeClr val="dk1"/>
              </a:buClr>
              <a:buSzPts val="1100"/>
              <a:buFont typeface="Arial"/>
              <a:buNone/>
            </a:pPr>
            <a:r>
              <a:rPr lang="en-GB" sz="1200">
                <a:solidFill>
                  <a:srgbClr val="FFFFFF"/>
                </a:solidFill>
                <a:latin typeface="Calibri"/>
                <a:ea typeface="Calibri"/>
                <a:cs typeface="Calibri"/>
                <a:sym typeface="Calibri"/>
              </a:rPr>
              <a:t>Microsoft Dynamics CRM Online Price and License Guide | xRM. (n.d.). Retrieved from https://xrm.com/reference/microsoft-dynamics-crm-online/price-and-license-guide/</a:t>
            </a:r>
            <a:endParaRPr sz="1200">
              <a:solidFill>
                <a:srgbClr val="FFFFFF"/>
              </a:solidFill>
              <a:latin typeface="Calibri"/>
              <a:ea typeface="Calibri"/>
              <a:cs typeface="Calibri"/>
              <a:sym typeface="Calibri"/>
            </a:endParaRPr>
          </a:p>
          <a:p>
            <a:pPr indent="-203200" lvl="0" marL="406400" marR="215900" rtl="0" algn="l">
              <a:lnSpc>
                <a:spcPct val="100000"/>
              </a:lnSpc>
              <a:spcBef>
                <a:spcPts val="1500"/>
              </a:spcBef>
              <a:spcAft>
                <a:spcPts val="0"/>
              </a:spcAft>
              <a:buClr>
                <a:schemeClr val="dk1"/>
              </a:buClr>
              <a:buSzPts val="1100"/>
              <a:buFont typeface="Arial"/>
              <a:buNone/>
            </a:pPr>
            <a:r>
              <a:rPr lang="en-GB" sz="1200">
                <a:solidFill>
                  <a:srgbClr val="FFFFFF"/>
                </a:solidFill>
                <a:latin typeface="Calibri"/>
                <a:ea typeface="Calibri"/>
                <a:cs typeface="Calibri"/>
                <a:sym typeface="Calibri"/>
              </a:rPr>
              <a:t>Software Advisory Service. (n.d.). Open Source vs Licensed Software. Retrieved from https://www.softwareadvisoryservice.com/blog/open-source-vs-licensed-software/</a:t>
            </a:r>
            <a:endParaRPr sz="1200">
              <a:solidFill>
                <a:srgbClr val="FFFFFF"/>
              </a:solidFill>
              <a:latin typeface="Calibri"/>
              <a:ea typeface="Calibri"/>
              <a:cs typeface="Calibri"/>
              <a:sym typeface="Calibri"/>
            </a:endParaRPr>
          </a:p>
          <a:p>
            <a:pPr indent="-203200" lvl="0" marL="406400" marR="215900" rtl="0" algn="l">
              <a:lnSpc>
                <a:spcPct val="100000"/>
              </a:lnSpc>
              <a:spcBef>
                <a:spcPts val="1500"/>
              </a:spcBef>
              <a:spcAft>
                <a:spcPts val="0"/>
              </a:spcAft>
              <a:buClr>
                <a:schemeClr val="dk1"/>
              </a:buClr>
              <a:buSzPts val="1100"/>
              <a:buFont typeface="Arial"/>
              <a:buNone/>
            </a:pPr>
            <a:r>
              <a:rPr lang="en-GB" sz="1200">
                <a:solidFill>
                  <a:srgbClr val="FFFFFF"/>
                </a:solidFill>
                <a:latin typeface="Calibri"/>
                <a:ea typeface="Calibri"/>
                <a:cs typeface="Calibri"/>
                <a:sym typeface="Calibri"/>
              </a:rPr>
              <a:t>The 8 Best Free and Open Source CRM Software Solutions. (n.d.). Retrieved from https://blog.capterra.com/free-and-open-source-crm/</a:t>
            </a:r>
            <a:endParaRPr sz="1200">
              <a:solidFill>
                <a:srgbClr val="FFFFFF"/>
              </a:solidFill>
              <a:latin typeface="Calibri"/>
              <a:ea typeface="Calibri"/>
              <a:cs typeface="Calibri"/>
              <a:sym typeface="Calibri"/>
            </a:endParaRPr>
          </a:p>
          <a:p>
            <a:pPr indent="0" lvl="0" marL="0" rtl="0" algn="l">
              <a:lnSpc>
                <a:spcPct val="100000"/>
              </a:lnSpc>
              <a:spcBef>
                <a:spcPts val="1500"/>
              </a:spcBef>
              <a:spcAft>
                <a:spcPts val="0"/>
              </a:spcAft>
              <a:buNone/>
            </a:pPr>
            <a:r>
              <a:t/>
            </a:r>
            <a:endParaRPr>
              <a:solidFill>
                <a:srgbClr val="FFFFFF"/>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4" name="Shape 294"/>
        <p:cNvGrpSpPr/>
        <p:nvPr/>
      </p:nvGrpSpPr>
      <p:grpSpPr>
        <a:xfrm>
          <a:off x="0" y="0"/>
          <a:ext cx="0" cy="0"/>
          <a:chOff x="0" y="0"/>
          <a:chExt cx="0" cy="0"/>
        </a:xfrm>
      </p:grpSpPr>
      <p:sp>
        <p:nvSpPr>
          <p:cNvPr id="295" name="Google Shape;295;p34"/>
          <p:cNvSpPr txBox="1"/>
          <p:nvPr>
            <p:ph type="title"/>
          </p:nvPr>
        </p:nvSpPr>
        <p:spPr>
          <a:xfrm>
            <a:off x="311700" y="1999050"/>
            <a:ext cx="8520600" cy="836100"/>
          </a:xfrm>
          <a:prstGeom prst="rect">
            <a:avLst/>
          </a:prstGeom>
          <a:solidFill>
            <a:schemeClr val="accent3"/>
          </a:solidFill>
        </p:spPr>
        <p:txBody>
          <a:bodyPr anchorCtr="0" anchor="ctr" bIns="91425" lIns="91425" spcFirstLastPara="1" rIns="91425" wrap="square" tIns="91425">
            <a:noAutofit/>
          </a:bodyPr>
          <a:lstStyle/>
          <a:p>
            <a:pPr indent="0" lvl="0" marL="0" rtl="0" algn="ctr">
              <a:spcBef>
                <a:spcPts val="0"/>
              </a:spcBef>
              <a:spcAft>
                <a:spcPts val="0"/>
              </a:spcAft>
              <a:buNone/>
            </a:pPr>
            <a:r>
              <a:rPr lang="en-GB" sz="3600">
                <a:solidFill>
                  <a:srgbClr val="FFFFFF"/>
                </a:solidFill>
                <a:latin typeface="Calibri"/>
                <a:ea typeface="Calibri"/>
                <a:cs typeface="Calibri"/>
                <a:sym typeface="Calibri"/>
              </a:rPr>
              <a:t>Discussion</a:t>
            </a:r>
            <a:endParaRPr sz="3600">
              <a:solidFill>
                <a:srgbClr val="FFFFFF"/>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